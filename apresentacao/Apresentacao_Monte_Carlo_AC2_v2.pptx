
<file path=[Content_Types].xml><?xml version="1.0" encoding="utf-8"?>
<Types xmlns="http://schemas.openxmlformats.org/package/2006/content-types">
  <Default Extension="mp4" ContentType="video/mp4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79" r:id="rId30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</p:sldIdLst>
  <p:notesMasterIdLst>
    <p:notesMasterId r:id="rId25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Introdução" id="{efbc7c3f-7cf8-9511-95dd-40e4ef7ebe55}">
          <p14:sldIdLst>
            <p14:sldId id="257"/>
            <p14:sldId id="258"/>
          </p14:sldIdLst>
        </p14:section>
        <p14:section name="1 · Análise da implementação" id="{b946af62-da59-818e-7554-b651a31d69be}">
          <p14:sldIdLst>
            <p14:sldId id="259"/>
            <p14:sldId id="260"/>
            <p14:sldId id="261"/>
            <p14:sldId id="262"/>
            <p14:sldId id="263"/>
          </p14:sldIdLst>
        </p14:section>
        <p14:section name="2 · Desempenho das políticas" id="{0d6bd28b-c453-a7e6-12ed-5c6a7f1fd27f}">
          <p14:sldIdLst>
            <p14:sldId id="264"/>
            <p14:sldId id="265"/>
            <p14:sldId id="266"/>
            <p14:sldId id="267"/>
            <p14:sldId id="268"/>
          </p14:sldIdLst>
        </p14:section>
        <p14:section name="3 · Experimentos com parâmetros" id="{47c69d03-7dcf-6ebe-f7ed-13b55534f85b}">
          <p14:sldIdLst>
            <p14:sldId id="269"/>
            <p14:sldId id="270"/>
            <p14:sldId id="271"/>
            <p14:sldId id="272"/>
            <p14:sldId id="273"/>
            <p14:sldId id="274"/>
            <p14:sldId id="275"/>
            <p14:sldId id="276"/>
          </p14:sldIdLst>
        </p14:section>
        <p14:section name="Conclusões" id="{e6c27e7a-dbb6-47e4-c35c-3e4cadcffef9}">
          <p14:sldIdLst>
            <p14:sldId id="277"/>
            <p14:sldId id="278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slide" Target="slides/slide20.xml"/><Relationship Id="rId21" Type="http://schemas.openxmlformats.org/officeDocument/2006/relationships/slide" Target="slides/slide21.xml"/><Relationship Id="rId22" Type="http://schemas.openxmlformats.org/officeDocument/2006/relationships/slide" Target="slides/slide22.xml"/><Relationship Id="rId23" Type="http://schemas.openxmlformats.org/officeDocument/2006/relationships/slide" Target="slides/slide23.xml"/><Relationship Id="rId24" Type="http://schemas.openxmlformats.org/officeDocument/2006/relationships/slide" Target="slides/slide24.xml"/><Relationship Id="rId25" Type="http://schemas.openxmlformats.org/officeDocument/2006/relationships/notesMaster" Target="notesMasters/notesMaster1.xml"/><Relationship Id="rId26" Type="http://schemas.openxmlformats.org/officeDocument/2006/relationships/presProps" Target="presProps.xml"/><Relationship Id="rId27" Type="http://schemas.openxmlformats.org/officeDocument/2006/relationships/viewProps" Target="viewProps.xml"/><Relationship Id="rId28" Type="http://schemas.openxmlformats.org/officeDocument/2006/relationships/theme" Target="theme/theme1.xml"/><Relationship Id="rId29" Type="http://schemas.openxmlformats.org/officeDocument/2006/relationships/tableStyles" Target="tableStyles.xml"/><Relationship Id="rId30" Type="http://schemas.openxmlformats.org/officeDocument/2006/relationships/slide" Target="slides/slide13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3.xlsx"/></Relationships>
</file>

<file path=ppt/charts/_rels/chart4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4.xlsx"/></Relationships>
</file>

<file path=ppt/charts/_rels/chart5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Worksheet5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3"/>
                </a:solidFill>
                <a:latin typeface="+mn-lt"/>
              </a:rPr>
              <a:t>Retorno médio por partida (0 = empate com a banca)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Retorno médio</c:v>
                </c:pt>
              </c:strCache>
            </c:strRef>
          </c:tx>
          <c:spPr>
            <a:solidFill>
              <a:srgbClr val="0B6E4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strRef>
              <c:f>Sheet1!$A$2:$A$5</c:f>
              <c:strCache>
                <c:ptCount val="4"/>
                <c:pt idx="0">
                  <c:v>Carta do dealer</c:v>
                </c:pt>
                <c:pt idx="1">
                  <c:v>Imita o dealer</c:v>
                </c:pt>
                <c:pt idx="2">
                  <c:v>Simples ≥20</c:v>
                </c:pt>
                <c:pt idx="3">
                  <c:v>Aleatória 50/50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-0.0592</c:v>
                </c:pt>
                <c:pt idx="1">
                  <c:v>-0.0728</c:v>
                </c:pt>
                <c:pt idx="2">
                  <c:v>-0.3519</c:v>
                </c:pt>
                <c:pt idx="3">
                  <c:v>-0.3945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high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0.5"/>
        </c:scaling>
        <c:delete val="0"/>
        <c:axPos val="b"/>
        <c:majorGridlines>
          <c:spPr>
            <a:ln w="9525" cap="flat">
              <a:solidFill>
                <a:srgbClr val="D5DD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Retorno médio</c:v>
                </c:pt>
              </c:strCache>
            </c:strRef>
          </c:tx>
          <c:spPr>
            <a:solidFill>
              <a:srgbClr val="3A6EA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Sheet1!$A$2:$A$10</c:f>
              <c:multiLvlStrCache>
                <c:ptCount val="9"/>
                <c:lvl>
                  <c:pt idx="0">
                    <c:v>ES</c:v>
                  </c:pt>
                  <c:pt idx="1">
                    <c:v>On-Policy ε=0.01</c:v>
                  </c:pt>
                  <c:pt idx="2">
                    <c:v>On-Policy ε=0.05</c:v>
                  </c:pt>
                  <c:pt idx="3">
                    <c:v>On-Policy ε=0.1</c:v>
                  </c:pt>
                  <c:pt idx="4">
                    <c:v>On-Policy ε=0.2</c:v>
                  </c:pt>
                  <c:pt idx="5">
                    <c:v>On-Policy ε=0.4</c:v>
                  </c:pt>
                  <c:pt idx="6">
                    <c:v>On-Policy ε linear 0.5→0.01</c:v>
                  </c:pt>
                  <c:pt idx="7">
                    <c:v>ES γ=0.9</c:v>
                  </c:pt>
                  <c:pt idx="8">
                    <c:v>On-Policy ε=0.1 γ=0.9</c:v>
                  </c:pt>
                </c:lvl>
              </c:multiLvlStrCache>
            </c:multiLvlStrRef>
          </c:cat>
          <c:val>
            <c:numRef>
              <c:f>Sheet1!$B$2:$B$10</c:f>
              <c:numCache>
                <c:formatCode>General</c:formatCode>
                <c:ptCount val="9"/>
                <c:pt idx="0">
                  <c:v>-0.0411</c:v>
                </c:pt>
                <c:pt idx="1">
                  <c:v>-0.072</c:v>
                </c:pt>
                <c:pt idx="2">
                  <c:v>-0.0496</c:v>
                </c:pt>
                <c:pt idx="3">
                  <c:v>-0.0453</c:v>
                </c:pt>
                <c:pt idx="4">
                  <c:v>-0.0477</c:v>
                </c:pt>
                <c:pt idx="5">
                  <c:v>-0.051</c:v>
                </c:pt>
                <c:pt idx="6">
                  <c:v>-0.0503</c:v>
                </c:pt>
                <c:pt idx="7">
                  <c:v>-0.0429</c:v>
                </c:pt>
                <c:pt idx="8">
                  <c:v>-0.0446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axMin"/>
        </c:scaling>
        <c:delete val="0"/>
        <c:axPos val="l"/>
        <c:numFmt formatCode="General" sourceLinked="1"/>
        <c:majorTickMark val="out"/>
        <c:minorTickMark val="none"/>
        <c:tickLblPos val="high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0.09"/>
        </c:scaling>
        <c:delete val="0"/>
        <c:axPos val="b"/>
        <c:majorGridlines>
          <c:spPr>
            <a:ln w="9525" cap="flat">
              <a:solidFill>
                <a:srgbClr val="D5DD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3"/>
                </a:solidFill>
                <a:latin typeface="+mn-lt"/>
              </a:rPr>
              <a:t>On-Policy: ε fixo × decaimento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retorno médio</c:v>
                </c:pt>
              </c:strCache>
            </c:strRef>
          </c:tx>
          <c:spPr>
            <a:solidFill>
              <a:srgbClr val="0B6E4F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Sheet1!$A$2:$A$7</c:f>
              <c:multiLvlStrCache>
                <c:ptCount val="6"/>
                <c:lvl>
                  <c:pt idx="0">
                    <c:v>ε=0.01</c:v>
                  </c:pt>
                  <c:pt idx="1">
                    <c:v>ε=0.05</c:v>
                  </c:pt>
                  <c:pt idx="2">
                    <c:v>ε=0.1</c:v>
                  </c:pt>
                  <c:pt idx="3">
                    <c:v>ε=0.2</c:v>
                  </c:pt>
                  <c:pt idx="4">
                    <c:v>ε=0.4</c:v>
                  </c:pt>
                  <c:pt idx="5">
                    <c:v>ε linear 0,5→0,01</c:v>
                  </c:pt>
                </c:lvl>
              </c:multiLvlStrCache>
            </c:multiLvlStrRef>
          </c:cat>
          <c:val>
            <c:numRef>
              <c:f>Sheet1!$B$2:$B$7</c:f>
              <c:numCache>
                <c:formatCode>General</c:formatCode>
                <c:ptCount val="6"/>
                <c:pt idx="0">
                  <c:v>-0.072</c:v>
                </c:pt>
                <c:pt idx="1">
                  <c:v>-0.0496</c:v>
                </c:pt>
                <c:pt idx="2">
                  <c:v>-0.0453</c:v>
                </c:pt>
                <c:pt idx="3">
                  <c:v>-0.0477</c:v>
                </c:pt>
                <c:pt idx="4">
                  <c:v>-0.051</c:v>
                </c:pt>
                <c:pt idx="5">
                  <c:v>-0.0503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0.09"/>
        </c:scaling>
        <c:delete val="0"/>
        <c:axPos val="l"/>
        <c:majorGridlines>
          <c:spPr>
            <a:ln w="9525" cap="flat">
              <a:solidFill>
                <a:srgbClr val="D5DD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400" b="0" i="0" u="none" strike="noStrike">
                <a:solidFill>
                  <a:srgbClr val="1B1F23"/>
                </a:solidFill>
                <a:latin typeface="+mn-lt"/>
              </a:defRPr>
            </a:pPr>
            <a:r>
              <a:rPr sz="1400" b="0" i="0" u="none" strike="noStrike">
                <a:solidFill>
                  <a:srgbClr val="1B1F23"/>
                </a:solidFill>
                <a:latin typeface="+mn-lt"/>
              </a:rPr>
              <a:t>Efeito do desconto γ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γ = 1</c:v>
                </c:pt>
              </c:strCache>
            </c:strRef>
          </c:tx>
          <c:spPr>
            <a:solidFill>
              <a:srgbClr val="3A6EA5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ES</c:v>
                  </c:pt>
                  <c:pt idx="1">
                    <c:v>On-Policy ε=0,1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-0.0411</c:v>
                </c:pt>
                <c:pt idx="1">
                  <c:v>-0.0453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γ = 0,9</c:v>
                </c:pt>
              </c:strCache>
            </c:strRef>
          </c:tx>
          <c:spPr>
            <a:solidFill>
              <a:srgbClr val="C9A227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ES</c:v>
                  </c:pt>
                  <c:pt idx="1">
                    <c:v>On-Policy ε=0,1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-0.0429</c:v>
                </c:pt>
                <c:pt idx="1">
                  <c:v>-0.0446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6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0.09"/>
        </c:scaling>
        <c:delete val="0"/>
        <c:axPos val="l"/>
        <c:majorGridlines>
          <c:spPr>
            <a:ln w="9525" cap="flat">
              <a:solidFill>
                <a:srgbClr val="D5DD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200">
              <a:latin typeface="+mn-lt"/>
              <a:cs typeface="+mn-lt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autoTitleDeleted val="1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retorno médio</c:v>
                </c:pt>
              </c:strCache>
            </c:strRef>
          </c:tx>
          <c:spPr>
            <a:solidFill>
              <a:srgbClr val="B23A48"/>
            </a:solidFill>
            <a:effectLst/>
          </c:spPr>
          <c:invertIfNegative val="0"/>
          <c:dLbls>
            <c:numFmt formatCode="0.000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B1F23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B23A48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C9A227"/>
              </a:solidFill>
              <a:effectLst/>
            </c:spPr>
          </c:dPt>
          <c:dPt>
            <c:idx val="2"/>
            <c:invertIfNegative val="0"/>
            <c:bubble3D val="0"/>
            <c:spPr>
              <a:solidFill>
                <a:srgbClr val="0B6E4F"/>
              </a:solidFill>
              <a:effectLst/>
            </c:spPr>
          </c:dPt>
          <c:cat>
            <c:multiLvlStrRef>
              <c:f>Sheet1!$A$2:$A$4</c:f>
              <c:multiLvlStrCache>
                <c:ptCount val="3"/>
                <c:lvl>
                  <c:pt idx="0">
                    <c:v>ES original
(12–21, STICK)</c:v>
                  </c:pt>
                  <c:pt idx="1">
                    <c:v>12–21,
HIT &lt; 12</c:v>
                  </c:pt>
                  <c:pt idx="2">
                    <c:v>ES corrigido
(4–21)</c:v>
                  </c:pt>
                </c:lvl>
              </c:multiLvlStrCache>
            </c:multiLvl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-0.1334</c:v>
                </c:pt>
                <c:pt idx="1">
                  <c:v>-0.0402</c:v>
                </c:pt>
                <c:pt idx="2">
                  <c:v>-0.0411</c:v>
                </c:pt>
              </c:numCache>
            </c:numRef>
          </c:val>
        </c:ser>
        <c:dLbls>
          <c:numFmt formatCode="0.000" sourceLinked="0"/>
          <c:txPr>
            <a:bodyPr/>
            <a:lstStyle/>
            <a:p>
              <a:pPr>
                <a:defRPr b="0" i="0" strike="noStrike" sz="1200" u="none">
                  <a:solidFill>
                    <a:srgbClr val="1B1F23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3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"/>
          <c:min val="-0.15"/>
        </c:scaling>
        <c:delete val="0"/>
        <c:axPos val="l"/>
        <c:majorGridlines>
          <c:spPr>
            <a:ln w="9525" cap="flat">
              <a:solidFill>
                <a:srgbClr val="D5DDD9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B1F23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Abertura. A pergunta que guia o trabalho: se um agente não conhece as regras do Blackjack, só joga partidas e vê o resultado, ele consegue descobrir uma boa estratégia? Os métodos de Monte Carlo respondem exatamente isso. A apresentação segue os três itens da entrega: como os algoritmos foram implementados, como se saem as políticas, e o que muda quando variamos os parâmetros.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Adiantando a conclusão. Nenhuma política vence a banca. A estratégia básica perde só 4 centavos por real apostado e o ES, aprendendo sozinho, chega no mesmo patamar. A política do professor, que só para com 20, perde quase 9 vezes mais. E o único ajuste que realmente atrapalhou foi epsilon muito pequeno.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Antes dos algoritmos, o problema. São 280 estados possíveis, duas ações e recompensa só no final. Isso torna o Monte Carlo natural: jogar o episódio inteiro e olhar o resultado.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 1. Comparação linha a linha do código do professor com o capítulo 5 do Sutton e Barto. O ponto de atenção é que o 'first-visit' do original é na prática last-visit, mas no Blackjack isso não importa porque nenhum estado se repete num episódio. Verificamos isso em 50 mil episódios.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ES segue a teoria, mas tinha um problema: sorteava só somas de 12 a 21 e usava STICK como padrão nas demais. Corrigimos e mostraremos o impacto no experimento 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 On-Policy não precisa de exploring starts: explora com probabilidade epsilon. Ele converge para a melhor política epsilon-soft, não para a ótima. Notar também que o texto do notebook cita epsilon 0,1 mas a execução usa 0,4; por isso comparamos vários valores.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 2. Quatro políticas fixas: a estratégia básica, uma conservadora que para em 17, a do professor que só para com 20, e uma aleatória como piso. Elas servem de régua para o que os algoritmos aprendem.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Todas têm retorno negativo, como esperado. A estratégia básica fica em menos 0,041, a conservadora em menos 0,073, e a do professor em menos 0,352, quase tão ruim quanto jogar aleatoriamente.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Os mapas de valor mostram por quê. Somas altas valem bastante; contra dealer forte, somas de 12 a 16 são as piores. A política de parar só com 20 joga fora o valor das somas 17 a 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estimativas dos estados mais frequentes estabilizam rápido; estados raros demoram mais. Também confirmamos que First-Visit e Every-Visit coincidem aqui.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Item 3 começa com um vídeo de 20 segundos. Em cima, o valor de cada estado; embaixo, a decisão. No início tudo é ruído, com poucos episódios. Conforme o treino avança, aparece o padrão: pedir carta com soma baixa e parar com soma alta. No fim, só 4% das decisões diferem da estratégia básica nas somas de 12 a 21.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Variamos o algoritmo, o epsilon, o decaimento de epsilon, o fator de desconto e o viés do ES. Cada configuração roda com 3 sementes e 200 mil episódios.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Resultado principal: ES e On-Policy com epsilon 0,1 diferem menos que o erro de medida. Só epsilon 0,01 fica claramente pior.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Segundo vídeo: a curva de aprendizado desenhada ao vivo. O ES sobe mais rápido no começo; o On-Policy com epsilon 0,1 o alcança; epsilon 0,01 explora pouco e fica para trás. Observação: esta animação vem de uma reexecução com 10 mil partidas de teste por ponto, por isso a escala absoluta tem erro de cerca de 0,006.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Epsilon 0,01 é o único pior. O decaimento linear e gamma 0,9 não mudam o resultado de forma significativa.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Achado sobre o código original: o ES usava STICK como padrão nas somas baixas e perdia muito mais. Basta trocar o padrão para HIT que o resultado volta ao normal.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As políticas aprendidas são bem parecidas com a estratégia básica: 3,5% de divergência para o ES e 11% para o On-Policy.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Fechamento: o código segue a teoria com algumas ressalvas; a estratégia básica é a melhor política fixa; o Monte Carlo aprende uma política equivalente sozinho; e o parâmetro que mais importa é manter alguma exploração.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APA"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AO">
    <p:bg>
      <p:bgPr>
        <a:solidFill>
          <a:srgbClr val="0B3D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4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UDO">
    <p:bg>
      <p:bgPr>
        <a:solidFill>
          <a:schemeClr val="bg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4652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Aprendizado por Reforço · Monte Carlo no Blackjack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chart" Target="../charts/chart1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2.xml"/><Relationship Id="rId5" Type="http://schemas.openxmlformats.org/officeDocument/2006/relationships/image" Target="../media/image1.png"/><Relationship Id="rId6" Type="http://schemas.openxmlformats.org/officeDocument/2006/relationships/image" Target="../media/image2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image" Target="../media/image3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3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4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video" Target="../media/media-15-1.mp4"/><Relationship Id="rId2" Type="http://schemas.microsoft.com/office/2007/relationships/media" Target="../media/media-15-1.mp4"/><Relationship Id="rId3" Type="http://schemas.openxmlformats.org/officeDocument/2006/relationships/image" Target="../media/image-15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5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6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chart" Target="../charts/chart2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1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video" Target="../media/media-18-1.mp4"/><Relationship Id="rId2" Type="http://schemas.microsoft.com/office/2007/relationships/media" Target="../media/media-18-1.mp4"/><Relationship Id="rId3" Type="http://schemas.openxmlformats.org/officeDocument/2006/relationships/image" Target="../media/image-18-3.png"/><Relationship Id="rId4" Type="http://schemas.openxmlformats.org/officeDocument/2006/relationships/slideLayout" Target="../slideLayouts/slideLayout4.xml"/><Relationship Id="rId5" Type="http://schemas.openxmlformats.org/officeDocument/2006/relationships/notesSlide" Target="../notesSlides/notesSlide18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chart" Target="../charts/chart3.xml"/><Relationship Id="rId2" Type="http://schemas.openxmlformats.org/officeDocument/2006/relationships/chart" Target="../charts/chart4.xml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19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chart" Target="../charts/chart5.xml"/><Relationship Id="rId2" Type="http://schemas.openxmlformats.org/officeDocument/2006/relationships/slideLayout" Target="../slideLayouts/slideLayout4.xml"/><Relationship Id="rId3" Type="http://schemas.openxmlformats.org/officeDocument/2006/relationships/notesSlide" Target="../notesSlides/notesSlide20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slideLayout" Target="../slideLayouts/slideLayout4.xml"/><Relationship Id="rId4" Type="http://schemas.openxmlformats.org/officeDocument/2006/relationships/notesSlide" Target="../notesSlides/notesSlide21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2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22960" y="1737360"/>
            <a:ext cx="1051560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Métodos de Monte Carlo no Blackjack</a:t>
            </a:r>
            <a:endParaRPr lang="en-US" sz="48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200400"/>
            <a:ext cx="10515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First-Visit MC · Monte Carlo ES · On-Policy ε-greedy</a:t>
            </a:r>
            <a:endParaRPr lang="en-US" sz="2400" dirty="0"/>
          </a:p>
        </p:txBody>
      </p:sp>
      <p:sp>
        <p:nvSpPr>
          <p:cNvPr id="4" name="Text 2"/>
          <p:cNvSpPr txBox="1"/>
          <p:nvPr/>
        </p:nvSpPr>
        <p:spPr>
          <a:xfrm>
            <a:off x="822960" y="4754880"/>
            <a:ext cx="10515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DD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Aprendizado por Reforço · Ibmec São Paulo · AC2</a:t>
            </a:r>
            <a:endParaRPr lang="en-US" sz="1600" dirty="0"/>
          </a:p>
          <a:p>
            <a:pPr indent="0" marL="0">
              <a:buNone/>
            </a:pPr>
            <a:r>
              <a:rPr lang="en-US" sz="1600" dirty="0">
                <a:solidFill>
                  <a:srgbClr val="DD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Entrega: 16/10/2026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566928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DE8E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Integrantes: Lucas Louro Quadros · (completar)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pergunta: dá para aprender a jogar só jogando?</a:t>
            </a:r>
            <a:endParaRPr lang="en-US" sz="3200" dirty="0"/>
          </a:p>
        </p:txBody>
      </p:sp>
      <p:sp>
        <p:nvSpPr>
          <p:cNvPr id="4" name="card 1 · Implementação"/>
          <p:cNvSpPr/>
          <p:nvPr/>
        </p:nvSpPr>
        <p:spPr>
          <a:xfrm>
            <a:off x="54864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6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Implementação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201168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Leitura crítica do notebook do professor: First-Visit, Exploring Starts e On-Policy ε-greedy, comparados com a teoria (Sutton &amp; Barto, cap. 5) e com correções documentadas.</a:t>
            </a:r>
            <a:endParaRPr lang="en-US" sz="1800" dirty="0"/>
          </a:p>
        </p:txBody>
      </p:sp>
      <p:sp>
        <p:nvSpPr>
          <p:cNvPr id="7" name="card 2 · Políticas próprias"/>
          <p:cNvSpPr/>
          <p:nvPr/>
        </p:nvSpPr>
        <p:spPr>
          <a:xfrm>
            <a:off x="429768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448056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Políticas próprias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4480560" y="201168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Quatro políticas avaliadas com First-Visit MC no Blackjack-v1: retorno médio, taxa de vitória e mapas de V(s) sobre os 280 estados.</a:t>
            </a:r>
            <a:endParaRPr lang="en-US" sz="1800" dirty="0"/>
          </a:p>
        </p:txBody>
      </p:sp>
      <p:sp>
        <p:nvSpPr>
          <p:cNvPr id="10" name="card 3 · Experimentos"/>
          <p:cNvSpPr/>
          <p:nvPr/>
        </p:nvSpPr>
        <p:spPr>
          <a:xfrm>
            <a:off x="8046720" y="1463040"/>
            <a:ext cx="3566160" cy="3291840"/>
          </a:xfrm>
          <a:prstGeom prst="roundRect">
            <a:avLst>
              <a:gd name="adj" fmla="val 222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0" y="160020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6E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Experimentos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229600" y="2011680"/>
            <a:ext cx="320040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× On-Policy variando ε, decaimento de ε e γ; 3 seeds por configuração e até 200.000 episódios de treino.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Aprender do zero supera nossas políticas manuais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6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-0,059</a:t>
            </a:r>
            <a:endParaRPr lang="en-US" sz="4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22860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médio de "Depende da carta do dealer" (a melhor das nossas 2 políticas)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429768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3A6E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-0,041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4297680" y="22860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retorno médio do ES treinado (3 seeds)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8046720" y="1463040"/>
            <a:ext cx="3474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-0,045</a:t>
            </a:r>
            <a:endParaRPr lang="en-US" sz="4000" dirty="0"/>
          </a:p>
        </p:txBody>
      </p:sp>
      <p:sp>
        <p:nvSpPr>
          <p:cNvPr id="9" name="Text 6"/>
          <p:cNvSpPr txBox="1"/>
          <p:nvPr/>
        </p:nvSpPr>
        <p:spPr>
          <a:xfrm>
            <a:off x="8046720" y="2286000"/>
            <a:ext cx="3474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melhor On-Policy: ε=0.1</a:t>
            </a:r>
            <a:endParaRPr lang="en-US" sz="14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3566160"/>
            <a:ext cx="11064240" cy="2651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jogo é desfavorável ao jogador: nenhuma política tem retorno médio positivo.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Políticas ingênuas perdem muito mais (Simples ≥20: -0,352).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Aprender do zero (ES e On-Policy) supera as duas políticas manuais do grupo em 0,014 a 0,032 de retorno médio por partida.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Nenhum estado se repete em um episódio: First-Visit e Every-Visit coincidem no Blackjack.</a:t>
            </a:r>
            <a:endParaRPr lang="en-US" sz="18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8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 original sorteia só somas 12–21 e usa STICK nas demais, o que o prejudica de forma artificial.</a:t>
            </a:r>
            <a:endParaRPr 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· Análise da implementação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do professor × teoria de Sutton &amp; Barto</a:t>
            </a:r>
            <a:endParaRPr lang="en-US" sz="2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ambiente: Blackjack-v1 como MDP episódico</a:t>
            </a:r>
            <a:endParaRPr lang="en-US" sz="3200" dirty="0"/>
          </a:p>
        </p:txBody>
      </p:sp>
      <p:sp>
        <p:nvSpPr>
          <p:cNvPr id="4" name="Text 1"/>
          <p:cNvSpPr txBox="1"/>
          <p:nvPr/>
        </p:nvSpPr>
        <p:spPr>
          <a:xfrm>
            <a:off x="548640" y="1371600"/>
            <a:ext cx="5852160" cy="4206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Estado: (soma do jogador, carta do dealer, ás utilizável).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Ações: STICK = 0 (parar) e HIT = 1 (pedir carta).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Recompensa só no fim: +1 vitória, 0 empate, −1 derrota.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Dealer pede carta até chegar a 17; o ás do dealer é codificado como 1.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Sem desconto relevante: o retorno do episódio é a recompensa final (γ = 1).</a:t>
            </a:r>
            <a:endParaRPr lang="en-US" sz="1600" dirty="0"/>
          </a:p>
        </p:txBody>
      </p:sp>
      <p:sp>
        <p:nvSpPr>
          <p:cNvPr id="5" name="painel estados"/>
          <p:cNvSpPr/>
          <p:nvPr/>
        </p:nvSpPr>
        <p:spPr>
          <a:xfrm>
            <a:off x="6766560" y="1371600"/>
            <a:ext cx="4846320" cy="4206240"/>
          </a:xfrm>
          <a:prstGeom prst="roundRect">
            <a:avLst>
              <a:gd name="adj" fmla="val 1739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132320" y="1645920"/>
            <a:ext cx="4114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6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280</a:t>
            </a:r>
            <a:endParaRPr lang="en-US" sz="4000" dirty="0"/>
          </a:p>
        </p:txBody>
      </p:sp>
      <p:sp>
        <p:nvSpPr>
          <p:cNvPr id="7" name="Text 4"/>
          <p:cNvSpPr txBox="1"/>
          <p:nvPr/>
        </p:nvSpPr>
        <p:spPr>
          <a:xfrm>
            <a:off x="7132320" y="2468880"/>
            <a:ext cx="41148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possíveis</a:t>
            </a:r>
            <a:endParaRPr lang="en-US" sz="1400" dirty="0"/>
          </a:p>
        </p:txBody>
      </p:sp>
      <p:sp>
        <p:nvSpPr>
          <p:cNvPr id="8" name="Text 5"/>
          <p:cNvSpPr txBox="1"/>
          <p:nvPr/>
        </p:nvSpPr>
        <p:spPr>
          <a:xfrm>
            <a:off x="7132320" y="3108960"/>
            <a:ext cx="4206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 somas (4–21) × 10 cartas do dealer sem ás utilizável</a:t>
            </a:r>
            <a:endParaRPr lang="en-US" sz="1400" dirty="0"/>
          </a:p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+ 10 somas (12–21) × 10 cartas com ás utilizável</a:t>
            </a:r>
            <a:endParaRPr lang="en-US" sz="1400" dirty="0"/>
          </a:p>
        </p:txBody>
      </p:sp>
      <p:sp>
        <p:nvSpPr>
          <p:cNvPr id="9" name="Text 6"/>
          <p:cNvSpPr txBox="1"/>
          <p:nvPr/>
        </p:nvSpPr>
        <p:spPr>
          <a:xfrm>
            <a:off x="7132320" y="4206240"/>
            <a:ext cx="4206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Modelo-livre: o agente só vê episódios, nunca as probabilidades de transição.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First-Visit MC: código × teoria</a:t>
            </a:r>
            <a:endParaRPr lang="en-US" sz="3200" dirty="0"/>
          </a:p>
        </p:txBody>
      </p:sp>
      <p:graphicFrame>
        <p:nvGraphicFramePr>
          <p:cNvPr id="7" name="tabela FV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Teoria (S&amp;B 5.1)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código do professor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Gerar episódio seguindo 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gera_episodio(env, politica): lista de (estado, ação, recompensa)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 ← γG + R, do fim para o início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Loop reverso: G = gamma * G + recompensa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a 1ª visita de cada estado conta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Conjunto 'visitados' no loop reverso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V(s) = média dos retornos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Returns_sum[s] / Counts[s], média amostral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5" name="card Ponto de atenção"/>
          <p:cNvSpPr/>
          <p:nvPr/>
        </p:nvSpPr>
        <p:spPr>
          <a:xfrm>
            <a:off x="548640" y="4206240"/>
            <a:ext cx="11064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31520" y="43434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Ponto de atenção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loop reverso, a checagem de 'visitados' mantém na verdade a última visita. No Blackjack isso é irrelevante: em 0 de 50.000 episódios um estado apareceu duas vezes, então First-Visit = Every-Visit (verificado em duas políticas).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Monte Carlo ES: código × teoria</a:t>
            </a:r>
            <a:endParaRPr lang="en-US" sz="3200" dirty="0"/>
          </a:p>
        </p:txBody>
      </p:sp>
      <p:graphicFrame>
        <p:nvGraphicFramePr>
          <p:cNvPr id="8" name="tabela 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Teoria (S&amp;B 5.3)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código do professor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Começar de (s, a) aleatórios, depois seguir π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Sorteia estado e primeira ação; depois ação greedy em Q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Q(s,a) = média dos retornos do par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Returns_sum[(s,a)] / Counts[(s,a)]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π(s) ← argmax_a Q(s,a)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greedy derivada de Q a cada episódio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Exploração garantida pelo início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ε: toda exploração vem do estado inicial sorteado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5" name="card Problema encontrado e corrigido"/>
          <p:cNvSpPr/>
          <p:nvPr/>
        </p:nvSpPr>
        <p:spPr>
          <a:xfrm>
            <a:off x="548640" y="4206240"/>
            <a:ext cx="11064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31520" y="43434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Problema encontrado e corrigido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 original só sorteia somas 12–21 e usa STICK como padrão nos estados nunca vistos. Isso afeta os estados de soma &lt; 12. Corrigimos sorteando os 280 estados e usando HIT quando a soma é &lt; 12 (Experimento E mostra o efeito).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On-Policy MC com ε-greedy: código × teoria</a:t>
            </a:r>
            <a:endParaRPr lang="en-US" sz="3200" dirty="0"/>
          </a:p>
        </p:txBody>
      </p:sp>
      <p:graphicFrame>
        <p:nvGraphicFramePr>
          <p:cNvPr id="9" name="tabela OP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4206240"/>
                <a:gridCol w="6858000"/>
              </a:tblGrid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Teoria (S&amp;B 5.4)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código do professor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 ε-soft: toda ação tem prob. ≥ ε/|A|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prob. ε age aleatoriamente; senão a ação greedy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 Exploring Starts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env.reset() comum: o episódio começa no estado natural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Melhora a política sobre a própria política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 atualizado e greedy recalculado; a política é implícita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Converge à melhor política ε-soft, não a π*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Com ε fixo há desempenho perdido; o decaimento de ε reduz isso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5" name="card Ponto de atenção"/>
          <p:cNvSpPr/>
          <p:nvPr/>
        </p:nvSpPr>
        <p:spPr>
          <a:xfrm>
            <a:off x="548640" y="4206240"/>
            <a:ext cx="11064240" cy="173736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31520" y="4343400"/>
            <a:ext cx="10698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Ponto de atenção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31520" y="4754880"/>
            <a:ext cx="1069848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Os comentários do original trocam 'exploração' e 'exploração/aproveitamento'; e a execução do professor usa ε = 0,4 enquanto o texto cita ε ≈ 0,1 como melhor valor. Aqui comparamos vários ε explicitamente.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 · Desempenho das políticas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Avaliação com First-Visit MC (200.000 episódios por política)</a:t>
            </a:r>
            <a:endParaRPr lang="en-US" sz="2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As quatro políticas avaliadas</a:t>
            </a:r>
            <a:endParaRPr lang="en-US" sz="3200" dirty="0"/>
          </a:p>
        </p:txBody>
      </p:sp>
      <p:graphicFrame>
        <p:nvGraphicFramePr>
          <p:cNvPr id="11" name="tabela politica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63040"/>
          <a:ext cx="11064240" cy="914400"/>
        </p:xfrm>
        <a:graphic>
          <a:graphicData uri="http://schemas.openxmlformats.org/drawingml/2006/table">
            <a:tbl>
              <a:tblPr/>
              <a:tblGrid>
                <a:gridCol w="3291840"/>
                <a:gridCol w="7772400"/>
              </a:tblGrid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Lógica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da carta do dealer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 a carta do dealer está entre 2 e 5 (mesa fraca), para com soma ≥ 12; com qualquer outra carta, para com soma ≥ 17.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Imita o dealer (≥17)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Para com soma ≥ 17, pede carta caso contrário — a mesma regra usada pelo próprio dealer.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Simples ≥20 (professor)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Só para com 20 ou 21; política do notebook do professor.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  <a:tr h="64008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Aleatória 50/50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Escolhe HIT ou STICK com igual probabilidade.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84632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política foi avaliada com First-Visit MC em 200.000 episódios; o retorno médio é a média dos retornos dos episódios (erro padrão ≈ 0,002).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Quanto cada política perde por partida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548640" y="1280160"/>
          <a:ext cx="5852160" cy="47548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2" name="tabela desempenh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675120" y="1463040"/>
          <a:ext cx="4937760" cy="914400"/>
        </p:xfrm>
        <a:graphic>
          <a:graphicData uri="http://schemas.openxmlformats.org/drawingml/2006/table">
            <a:tbl>
              <a:tblPr/>
              <a:tblGrid>
                <a:gridCol w="2194560"/>
                <a:gridCol w="914400"/>
                <a:gridCol w="914400"/>
                <a:gridCol w="91440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Política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Vit.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Emp.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Der.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Depende da carta do dealer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42,5%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48,4%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Imita o dealer (≥17)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41,3%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10,2%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Simples ≥20 (professor)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29,6%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5,5%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64,8%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Aleatória 50/50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28,2%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4,1%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67,7%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6675120" y="4114800"/>
            <a:ext cx="493776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"Depende da carta do dealer" melhora o retorno médio em 0,014 por partida frente a apenas "Imitar o dealer" — mas nenhuma das duas supera a banca (a vantagem estrutural é dela).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V(s) estimado: nossas duas políticas do grupo</a:t>
            </a:r>
            <a:endParaRPr lang="en-US" sz="3200" dirty="0"/>
          </a:p>
        </p:txBody>
      </p:sp>
      <p:sp>
        <p:nvSpPr>
          <p:cNvPr id="6" name="Text 1"/>
          <p:cNvSpPr txBox="1"/>
          <p:nvPr/>
        </p:nvSpPr>
        <p:spPr>
          <a:xfrm>
            <a:off x="548640" y="4892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Depende da carta do dealer</a:t>
            </a:r>
            <a:endParaRPr lang="en-US" sz="1600" dirty="0"/>
          </a:p>
        </p:txBody>
      </p:sp>
      <p:sp>
        <p:nvSpPr>
          <p:cNvPr id="7" name="Text 2"/>
          <p:cNvSpPr txBox="1"/>
          <p:nvPr/>
        </p:nvSpPr>
        <p:spPr>
          <a:xfrm>
            <a:off x="6263640" y="4892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6E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Imita o dealer (≥17)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Contra dealer fraco (2–5), parar em 12 já é melhor que seguir até 17: p.ex. soma 15 vs. dealer 3, V(s) sobe de -0,42 para -0,25. Contra dealer forte as duas regras coincidem (mesmo V(s)); nenhuma das duas usa a informação de ás usável — por isso os dois painéis de cada política são praticamente iguais.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  <p:pic>
        <p:nvPicPr>
          <p:cNvPr id="26" name="Picture 25" descr="grupo_v_dealer_fraco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65760" y="1729328"/>
            <a:ext cx="5760720" cy="2667825"/>
          </a:xfrm>
          <a:prstGeom prst="rect">
            <a:avLst/>
          </a:prstGeom>
        </p:spPr>
      </p:pic>
      <p:pic>
        <p:nvPicPr>
          <p:cNvPr id="27" name="Picture 26" descr="grupo_v_imita_dealer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080760" y="1729328"/>
            <a:ext cx="5760720" cy="26678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 idx="101"/>
          </p:nvPr>
        </p:nvSpPr>
        <p:spPr/>
        <p:txBody>
          <a:bodyPr/>
          <a:lstStyle/>
          <a:p>
            <a:r>
              <a:t>Onde as duas políticas do grupo discordam</a:t>
            </a:r>
          </a:p>
        </p:txBody>
      </p:sp>
      <p:pic>
        <p:nvPicPr>
          <p:cNvPr id="3" name="Picture 2" descr="grupo_diferenca_decisa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417320"/>
            <a:ext cx="6309360" cy="4754880"/>
          </a:xfrm>
          <a:prstGeom prst="rect">
            <a:avLst/>
          </a:prstGeom>
        </p:spPr>
      </p:pic>
      <p:sp>
        <p:nvSpPr>
          <p:cNvPr id="5" name="card Problema encontrado e corrigido"/>
          <p:cNvSpPr/>
          <p:nvPr/>
        </p:nvSpPr>
        <p:spPr>
          <a:xfrm>
            <a:off x="7132320" y="1417320"/>
            <a:ext cx="4480560" cy="4754880"/>
          </a:xfrm>
          <a:prstGeom prst="roundRect">
            <a:avLst>
              <a:gd name="adj" fmla="val 4211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6" name="Text 2"/>
          <p:cNvSpPr txBox="1"/>
          <p:nvPr/>
        </p:nvSpPr>
        <p:spPr>
          <a:xfrm>
            <a:off x="7315200" y="1554480"/>
            <a:ext cx="4114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muda, em números</a:t>
            </a:r>
            <a:endParaRPr lang="en-US" sz="1600" dirty="0"/>
          </a:p>
        </p:txBody>
      </p:sp>
      <p:sp>
        <p:nvSpPr>
          <p:cNvPr id="7" name="Text 3"/>
          <p:cNvSpPr txBox="1"/>
          <p:nvPr/>
        </p:nvSpPr>
        <p:spPr>
          <a:xfrm>
            <a:off x="7315200" y="2011680"/>
            <a:ext cx="4114800" cy="3977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20% dos 100 estados (soma 12–21) têm decisão diferente entre as duas políticas.</a:t>
            </a:r>
            <a:endParaRPr lang="en-US" sz="1600" dirty="0"/>
          </a:p>
          <a:p>
            <a:pPr/>
            <a:r>
              <a:rPr sz="1600">
                <a:latin typeface="Calibri"/>
              </a:rPr>
              <a:t>Toda a diferença está concentrada em soma 12–16 contra dealer fraco (2–5).</a:t>
            </a:r>
          </a:p>
          <a:p>
            <a:pPr/>
            <a:r>
              <a:rPr sz="1600">
                <a:latin typeface="Calibri"/>
              </a:rPr>
              <a:t>Ganho real: +0,014 de retorno médio por partida ao reagir à carta do dealer.</a:t>
            </a:r>
          </a:p>
          <a:p>
            <a:pPr/>
            <a:r>
              <a:rPr sz="1600">
                <a:latin typeface="Calibri"/>
              </a:rPr>
              <a:t>Nenhuma das duas políticas usa o ás usável — a decisão é idêntica com ou sem ele.</a:t>
            </a:r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Convergência e validação do First-Visit</a:t>
            </a:r>
            <a:endParaRPr lang="en-US" sz="3200" dirty="0"/>
          </a:p>
        </p:txBody>
      </p:sp>
      <p:pic>
        <p:nvPicPr>
          <p:cNvPr id="4" name="convergência estados chave" descr="convergência estados chav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332974"/>
            <a:ext cx="11247120" cy="3003331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548640" y="4572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0B6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0 / 50.000</a:t>
            </a:r>
            <a:endParaRPr lang="en-US" sz="4000" dirty="0"/>
          </a:p>
        </p:txBody>
      </p:sp>
      <p:sp>
        <p:nvSpPr>
          <p:cNvPr id="6" name="Text 2"/>
          <p:cNvSpPr txBox="1"/>
          <p:nvPr/>
        </p:nvSpPr>
        <p:spPr>
          <a:xfrm>
            <a:off x="548640" y="5394960"/>
            <a:ext cx="32918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episódios com estado repetido: First-Visit ≡ Every-Visit</a:t>
            </a:r>
            <a:endParaRPr lang="en-US" sz="1400" dirty="0"/>
          </a:p>
        </p:txBody>
      </p:sp>
      <p:sp>
        <p:nvSpPr>
          <p:cNvPr id="7" name="Text 3"/>
          <p:cNvSpPr txBox="1"/>
          <p:nvPr/>
        </p:nvSpPr>
        <p:spPr>
          <a:xfrm>
            <a:off x="4206240" y="4663440"/>
            <a:ext cx="74066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Estimativas de estados frequentes estabilizam rápido.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Estados raros (ás utilizável, somas baixas) têm mais ruído com o mesmo número de episódios.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822960" y="2377440"/>
            <a:ext cx="1051560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 · Experimentos com parâmetros</a:t>
            </a:r>
            <a:endParaRPr lang="en-US" sz="4400" dirty="0"/>
          </a:p>
        </p:txBody>
      </p:sp>
      <p:sp>
        <p:nvSpPr>
          <p:cNvPr id="3" name="Text 1"/>
          <p:cNvSpPr txBox="1"/>
          <p:nvPr/>
        </p:nvSpPr>
        <p:spPr>
          <a:xfrm>
            <a:off x="822960" y="3657600"/>
            <a:ext cx="10515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dirty="0">
                <a:solidFill>
                  <a:srgbClr val="C9A227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× On-Policy ε-greedy, ε, decaimento e γ</a:t>
            </a:r>
            <a:endParaRPr lang="en-US" sz="20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 1 · O ES descobre a estratégia sozinho</a:t>
            </a:r>
            <a:endParaRPr lang="en-US" sz="3200" dirty="0"/>
          </a:p>
        </p:txBody>
      </p:sp>
      <p:pic>
        <p:nvPicPr>
          <p:cNvPr id="3" name="video mapa de valor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280160"/>
            <a:ext cx="8046720" cy="45262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96112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ler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8961120" y="1737360"/>
            <a:ext cx="2743200" cy="4023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 cima: valor V(s) de cada estado (verde = bom).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Embaixo: decisão (pedir ou parar).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Começa em ruído; no fim só 4% das decisões diferem da estratégia básica.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548640" y="5897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vídeo para reproduzir (20 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Desenho experimental</a:t>
            </a:r>
            <a:endParaRPr lang="en-US" sz="3200" dirty="0"/>
          </a:p>
        </p:txBody>
      </p:sp>
      <p:graphicFrame>
        <p:nvGraphicFramePr>
          <p:cNvPr id="17" name="tabela experimento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371600"/>
          <a:ext cx="11064240" cy="914400"/>
        </p:xfrm>
        <a:graphic>
          <a:graphicData uri="http://schemas.openxmlformats.org/drawingml/2006/table">
            <a:tbl>
              <a:tblPr/>
              <a:tblGrid>
                <a:gridCol w="1645920"/>
                <a:gridCol w="5120640"/>
                <a:gridCol w="4297680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Experimento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Parâmetros variados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Pergunta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× On-Policy; ε ∈ {0,01; 0,05; 0,1; 0,2; 0,4}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Qual algoritmo/ε dá melhor política?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ε linear de 0,5 até 0,01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Decair ε ajuda?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γ = 0,9 contra γ = 1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Desconto muda a política?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com sorteio 12–21 × 4–21; STICK × HIT padrão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 viés do original importa?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5" name="Text 1"/>
          <p:cNvSpPr txBox="1"/>
          <p:nvPr/>
        </p:nvSpPr>
        <p:spPr>
          <a:xfrm>
            <a:off x="548640" y="4572000"/>
            <a:ext cx="110642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Cada configuração: 3 seeds, até 200.000 episódios de treino; a política final de cada seed é testada em 50.000 partidas independentes (erro padrão ≈ 0,004). O desvio entre seeds está na tabela do próximo slide.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 e On-Policy chegam ao mesmo lugar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188720"/>
          <a:ext cx="7132320" cy="5029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18" name="tabela resumo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772400" y="1280160"/>
          <a:ext cx="4023360" cy="914400"/>
        </p:xfrm>
        <a:graphic>
          <a:graphicData uri="http://schemas.openxmlformats.org/drawingml/2006/table">
            <a:tbl>
              <a:tblPr/>
              <a:tblGrid>
                <a:gridCol w="2286000"/>
                <a:gridCol w="868680"/>
                <a:gridCol w="868680"/>
              </a:tblGrid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Configuração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4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σ seeds</a:t>
                      </a:r>
                      <a:endParaRPr lang="en-US" sz="14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0B3D2E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-0,041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On-Policy ε=0.01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-0,072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On-Policy ε=0.05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On-Policy ε=0.1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On-Policy ε=0.2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-0,048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On-Policy ε=0.4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-0,051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On-Policy ε linear 0.5→0.01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-0,050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0,001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 γ=0.9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-0,043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0,004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On-Policy ε=0.1 γ=0.9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-0,045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en-US" sz="1100" dirty="0">
                          <a:solidFill>
                            <a:srgbClr val="1B1F2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0,007</a:t>
                      </a:r>
                      <a:endParaRPr lang="en-US" sz="1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0" cap="flat" cmpd="sng" algn="ctr">
                      <a:noFill/>
                    </a:lnB>
                    <a:solidFill>
                      <a:srgbClr val="EEF3F0"/>
                    </a:solidFill>
                  </a:tcPr>
                </a:tc>
              </a:tr>
            </a:tbl>
          </a:graphicData>
        </a:graphic>
      </p:graphicFrame>
      <p:sp>
        <p:nvSpPr>
          <p:cNvPr id="6" name="Text 1"/>
          <p:cNvSpPr txBox="1"/>
          <p:nvPr/>
        </p:nvSpPr>
        <p:spPr>
          <a:xfrm>
            <a:off x="7772400" y="5257800"/>
            <a:ext cx="40233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(-0,041) e On-Policy ε=0,1 (-0,045) diferem menos que o erro padrão de uma avaliação (≈ 0,004): empate estatístico.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Vídeo 2 · Quem aprende mais rápido</a:t>
            </a:r>
            <a:endParaRPr lang="en-US" sz="3200" dirty="0"/>
          </a:p>
        </p:txBody>
      </p:sp>
      <p:pic>
        <p:nvPicPr>
          <p:cNvPr id="3" name="video curva de aprendizado">
            <a:hlinkClick r:id="" action="ppaction://media"/>
          </p:cNvPr>
          <p:cNvPicPr>
            <a:picLocks noChangeAspect="1"/>
          </p:cNvPicPr>
          <p:nvPr>
            <a:videoFile r:link="rId1"/>
            <p:extLst>
              <p:ext uri="{DAA4B4D4-6D71-4841-9C94-3DE7FCFB9230}">
                <p14:media xmlns:p14="http://schemas.microsoft.com/office/powerpoint/2010/main" r:embed="rId2"/>
              </p:ext>
            </p:extLst>
          </p:nvPr>
        </p:nvPicPr>
        <p:blipFill>
          <a:blip r:embed="rId3"/>
          <a:stretch>
            <a:fillRect/>
          </a:stretch>
        </p:blipFill>
        <p:spPr>
          <a:xfrm>
            <a:off x="548640" y="1280160"/>
            <a:ext cx="8046720" cy="4526280"/>
          </a:xfrm>
          <a:prstGeom prst="rect">
            <a:avLst/>
          </a:prstGeom>
        </p:spPr>
      </p:pic>
      <p:sp>
        <p:nvSpPr>
          <p:cNvPr id="5" name="Text 1"/>
          <p:cNvSpPr txBox="1"/>
          <p:nvPr/>
        </p:nvSpPr>
        <p:spPr>
          <a:xfrm>
            <a:off x="8961120" y="1280160"/>
            <a:ext cx="2743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B6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que observar</a:t>
            </a:r>
            <a:endParaRPr lang="en-US" sz="1800" dirty="0"/>
          </a:p>
        </p:txBody>
      </p:sp>
      <p:sp>
        <p:nvSpPr>
          <p:cNvPr id="6" name="Text 2"/>
          <p:cNvSpPr txBox="1"/>
          <p:nvPr/>
        </p:nvSpPr>
        <p:spPr>
          <a:xfrm>
            <a:off x="8961120" y="1737360"/>
            <a:ext cx="274320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ES sobe mais rápido nos primeiros episódios.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On-Policy ε = 0,1 o alcança no fim.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0,01 explora pouco e fica para trás.</a:t>
            </a:r>
            <a:endParaRPr lang="en-US" sz="1500" dirty="0"/>
          </a:p>
        </p:txBody>
      </p:sp>
      <p:sp>
        <p:nvSpPr>
          <p:cNvPr id="7" name="Text 3"/>
          <p:cNvSpPr txBox="1"/>
          <p:nvPr/>
        </p:nvSpPr>
        <p:spPr>
          <a:xfrm>
            <a:off x="8961120" y="4572000"/>
            <a:ext cx="27432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Animação de uma reexecução com 10 mil partidas de teste por ponto (erro ≈ ±0,006). Os valores finais do experimento estão nos slides seguintes.</a:t>
            </a:r>
            <a:endParaRPr lang="en-US" sz="1200" dirty="0"/>
          </a:p>
        </p:txBody>
      </p:sp>
      <p:sp>
        <p:nvSpPr>
          <p:cNvPr id="8" name="Text 4"/>
          <p:cNvSpPr txBox="1"/>
          <p:nvPr/>
        </p:nvSpPr>
        <p:spPr>
          <a:xfrm>
            <a:off x="548640" y="5897880"/>
            <a:ext cx="8046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Clique no vídeo para reproduzir (16 s).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Efeito de ε, decaimento e γ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585216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5" name="Chart 1" descr=""/>
          <p:cNvGraphicFramePr/>
          <p:nvPr/>
        </p:nvGraphicFramePr>
        <p:xfrm>
          <a:off x="6492240" y="1280160"/>
          <a:ext cx="5212080" cy="420624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6" name="Text 1"/>
          <p:cNvSpPr txBox="1"/>
          <p:nvPr/>
        </p:nvSpPr>
        <p:spPr>
          <a:xfrm>
            <a:off x="548640" y="55321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ε = 0,01 é o único claramente pior (-0,072); de 0,05 a 0,4 as diferenças ficam dentro do erro (≈ 0,004). O decaimento de ε e γ = 0,9 não mudam o resultado de forma significativa.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viés das somas &lt; 12 no ES original</a:t>
            </a:r>
            <a:endParaRPr lang="en-US" sz="32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457200" y="1280160"/>
          <a:ext cx="6217920" cy="45720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Text 1"/>
          <p:cNvSpPr txBox="1"/>
          <p:nvPr/>
        </p:nvSpPr>
        <p:spPr>
          <a:xfrm>
            <a:off x="6949440" y="1371600"/>
            <a:ext cx="4754880" cy="457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original: -0,133 contra -0,041 do ES corrigido.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 o prejuízo vem do STICK como ação padrão nas somas &lt; 12, onde parar nunca faz sentido: só trocar o padrão para HIT já dá -0,040.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Sortear também as somas baixas não muda o resultado (diferença de 0,001): os estados de soma &lt; 12 são visitados de qualquer forma.</a:t>
            </a:r>
            <a:endParaRPr lang="en-US" sz="15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5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Vale também para a estratégia básica avaliada com o mesmo dicionário: −0,134 contra −0,047.</a:t>
            </a:r>
            <a:endParaRPr lang="en-US" sz="15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Políticas aprendidas: ES × On-Policy ε = 0,1</a:t>
            </a:r>
            <a:endParaRPr lang="en-US" sz="3200" dirty="0"/>
          </a:p>
        </p:txBody>
      </p:sp>
      <p:pic>
        <p:nvPicPr>
          <p:cNvPr id="4" name="política ES" descr="política ES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65760" y="1461804"/>
            <a:ext cx="5760720" cy="3202871"/>
          </a:xfrm>
          <a:prstGeom prst="rect">
            <a:avLst/>
          </a:prstGeom>
        </p:spPr>
      </p:pic>
      <p:pic>
        <p:nvPicPr>
          <p:cNvPr id="5" name="política On-Policy" descr="política On-Policy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80760" y="1461804"/>
            <a:ext cx="5760720" cy="3202871"/>
          </a:xfrm>
          <a:prstGeom prst="rect">
            <a:avLst/>
          </a:prstGeom>
        </p:spPr>
      </p:pic>
      <p:sp>
        <p:nvSpPr>
          <p:cNvPr id="6" name="Text 1"/>
          <p:cNvSpPr txBox="1"/>
          <p:nvPr/>
        </p:nvSpPr>
        <p:spPr>
          <a:xfrm>
            <a:off x="548640" y="4892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B6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ES</a:t>
            </a:r>
            <a:endParaRPr lang="en-US" sz="1600" dirty="0"/>
          </a:p>
        </p:txBody>
      </p:sp>
      <p:sp>
        <p:nvSpPr>
          <p:cNvPr id="7" name="Text 2"/>
          <p:cNvSpPr txBox="1"/>
          <p:nvPr/>
        </p:nvSpPr>
        <p:spPr>
          <a:xfrm>
            <a:off x="6263640" y="4892040"/>
            <a:ext cx="5486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3A6E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On-Policy ε = 0,1</a:t>
            </a:r>
            <a:endParaRPr lang="en-US" sz="1600" dirty="0"/>
          </a:p>
        </p:txBody>
      </p:sp>
      <p:sp>
        <p:nvSpPr>
          <p:cNvPr id="8" name="Text 3"/>
          <p:cNvSpPr txBox="1"/>
          <p:nvPr/>
        </p:nvSpPr>
        <p:spPr>
          <a:xfrm>
            <a:off x="548640" y="53492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Divergência: ES × estratégia básica 3,5%; On-Policy × estratégia básica 11,0%; ES × On-Policy 13,5% dos 200 estados com soma 12–21.</a:t>
            </a:r>
            <a:endParaRPr 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21</a:t>
            </a:fld>
            <a:endParaRPr lang="en-US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Conclusões</a:t>
            </a:r>
            <a:endParaRPr lang="en-US" sz="3200" dirty="0"/>
          </a:p>
        </p:txBody>
      </p:sp>
      <p:sp>
        <p:nvSpPr>
          <p:cNvPr id="4" name="card Implementação"/>
          <p:cNvSpPr/>
          <p:nvPr/>
        </p:nvSpPr>
        <p:spPr>
          <a:xfrm>
            <a:off x="548640" y="1371600"/>
            <a:ext cx="539496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5" name="Text 2"/>
          <p:cNvSpPr txBox="1"/>
          <p:nvPr/>
        </p:nvSpPr>
        <p:spPr>
          <a:xfrm>
            <a:off x="73152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B6E4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Implementação</a:t>
            </a:r>
            <a:endParaRPr lang="en-US" sz="1600" dirty="0"/>
          </a:p>
        </p:txBody>
      </p:sp>
      <p:sp>
        <p:nvSpPr>
          <p:cNvPr id="6" name="Text 3"/>
          <p:cNvSpPr txBox="1"/>
          <p:nvPr/>
        </p:nvSpPr>
        <p:spPr>
          <a:xfrm>
            <a:off x="731520" y="19202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código segue a teoria, com três ressalvas: o viés das somas &lt; 12 no ES, o 'First-Visit' que na prática é last-visit e a terminologia trocada nos comentários. Nenhuma altera a conclusão geral.</a:t>
            </a:r>
            <a:endParaRPr lang="en-US" sz="1600" dirty="0"/>
          </a:p>
        </p:txBody>
      </p:sp>
      <p:sp>
        <p:nvSpPr>
          <p:cNvPr id="7" name="card Políticas"/>
          <p:cNvSpPr/>
          <p:nvPr/>
        </p:nvSpPr>
        <p:spPr>
          <a:xfrm>
            <a:off x="6217920" y="1371600"/>
            <a:ext cx="539496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Text 5"/>
          <p:cNvSpPr txBox="1"/>
          <p:nvPr/>
        </p:nvSpPr>
        <p:spPr>
          <a:xfrm>
            <a:off x="6400800" y="150876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C9A227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Políticas</a:t>
            </a:r>
            <a:endParaRPr lang="en-US" sz="1600" dirty="0"/>
          </a:p>
        </p:txBody>
      </p:sp>
      <p:sp>
        <p:nvSpPr>
          <p:cNvPr id="9" name="Text 6"/>
          <p:cNvSpPr txBox="1"/>
          <p:nvPr/>
        </p:nvSpPr>
        <p:spPr>
          <a:xfrm>
            <a:off x="6400800" y="192024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estratégia básica é a melhor (-0,041); a Simples ≥20 do professor é ruim (-0,352). Nenhuma supera a banca.</a:t>
            </a:r>
            <a:endParaRPr lang="en-US" sz="1600" dirty="0"/>
          </a:p>
        </p:txBody>
      </p:sp>
      <p:sp>
        <p:nvSpPr>
          <p:cNvPr id="10" name="card Experimentos"/>
          <p:cNvSpPr/>
          <p:nvPr/>
        </p:nvSpPr>
        <p:spPr>
          <a:xfrm>
            <a:off x="548640" y="3840480"/>
            <a:ext cx="539496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73152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A6EA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Experimentos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731520" y="438912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 corrigido: -0,041. Melhor On-Policy: -0,045 (ε=0.1). ES e On-Policy empatam estatisticamente (erro padrão ≈ 0,004); só ε = 0,01 é pior.</a:t>
            </a:r>
            <a:endParaRPr lang="en-US" sz="1600" dirty="0"/>
          </a:p>
        </p:txBody>
      </p:sp>
      <p:sp>
        <p:nvSpPr>
          <p:cNvPr id="13" name="card Limitações"/>
          <p:cNvSpPr/>
          <p:nvPr/>
        </p:nvSpPr>
        <p:spPr>
          <a:xfrm>
            <a:off x="6217920" y="3840480"/>
            <a:ext cx="5394960" cy="2286000"/>
          </a:xfrm>
          <a:prstGeom prst="roundRect">
            <a:avLst>
              <a:gd name="adj" fmla="val 32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6400800" y="397764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B23A48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Limitações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6400800" y="4389120"/>
            <a:ext cx="502920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Poucas seeds; o valor de ε depende do número de episódios; as conclusões valem para o Blackjack-v1 com baralho infinito.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22</a:t>
            </a:fld>
            <a:endParaRPr lang="en-US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20040"/>
            <a:ext cx="110642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371600"/>
            <a:ext cx="11064240" cy="4114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Sutton, R. S.; Barto, A. G. Reinforcement Learning: An Introduction, 2ª ed., 2018. Cap. 5 (Monte Carlo Methods).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Notebook do professor: Aula_13_14_Monte_Carlo_RL_Didatico.ipynb (DeepFluxion/2026_2_IBMEC_APRENDIZADO_REFORCO).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Gymnasium: Blackjack-v1, documentação oficial.</a:t>
            </a:r>
            <a:endParaRPr lang="en-US" sz="16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600" dirty="0">
                <a:solidFill>
                  <a:schemeClr val="tx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Código e resultados do grupo: notebooks/experimentos.ipynb e pasta resultados/.</a:t>
            </a:r>
            <a:endParaRPr lang="en-US" sz="1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247120" y="6446520"/>
            <a:ext cx="54864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chemeClr val="tx2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23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lackjack MC">
  <a:themeElements>
    <a:clrScheme name="Blackjack MC">
      <a:dk1>
        <a:srgbClr val="1B1F23"/>
      </a:dk1>
      <a:lt1>
        <a:srgbClr val="FFFFFF"/>
      </a:lt1>
      <a:dk2>
        <a:srgbClr val="0B3D2E"/>
      </a:dk2>
      <a:lt2>
        <a:srgbClr val="EEF3F0"/>
      </a:lt2>
      <a:accent1>
        <a:srgbClr val="0B6E4F"/>
      </a:accent1>
      <a:accent2>
        <a:srgbClr val="C9A227"/>
      </a:accent2>
      <a:accent3>
        <a:srgbClr val="B23A48"/>
      </a:accent3>
      <a:accent4>
        <a:srgbClr val="3A6EA5"/>
      </a:accent4>
      <a:accent5>
        <a:srgbClr val="6B7C85"/>
      </a:accent5>
      <a:accent6>
        <a:srgbClr val="7A5BB5"/>
      </a:accent6>
      <a:hlink>
        <a:srgbClr val="3A6EA5"/>
      </a:hlink>
      <a:folHlink>
        <a:srgbClr val="6B7C85"/>
      </a:folHlink>
    </a:clrScheme>
    <a:fontScheme name="Blackjack MC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23</Slides>
  <Notes>23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2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Métodos de Monte Carlo no Blackjack</dc:title>
  <dc:subject>PptxGenJS Presentation</dc:subject>
  <dc:creator>Lucas — Ibmec São Paulo</dc:creator>
  <cp:lastModifiedBy>Lucas — Ibmec São Paulo</cp:lastModifiedBy>
  <cp:revision>1</cp:revision>
  <dcterms:created xsi:type="dcterms:W3CDTF">2026-10-13T21:31:14Z</dcterms:created>
  <dcterms:modified xsi:type="dcterms:W3CDTF">2026-10-13T21:31:14Z</dcterms:modified>
</cp:coreProperties>
</file>