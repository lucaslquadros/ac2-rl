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30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efbc7c3f-7cf8-9511-95dd-40e4ef7ebe55}">
          <p14:sldIdLst>
            <p14:sldId id="257"/>
            <p14:sldId id="258"/>
          </p14:sldIdLst>
        </p14:section>
        <p14:section name="1 · Análise da implementação" id="{b946af62-da59-818e-7554-b651a31d69be}">
          <p14:sldIdLst>
            <p14:sldId id="259"/>
            <p14:sldId id="260"/>
            <p14:sldId id="261"/>
            <p14:sldId id="262"/>
            <p14:sldId id="263"/>
          </p14:sldIdLst>
        </p14:section>
        <p14:section name="2 · Desempenho das políticas" id="{0d6bd28b-c453-a7e6-12ed-5c6a7f1fd27f}">
          <p14:sldIdLst>
            <p14:sldId id="264"/>
            <p14:sldId id="265"/>
            <p14:sldId id="266"/>
            <p14:sldId id="267"/>
            <p14:sldId id="268"/>
          </p14:sldIdLst>
        </p14:section>
        <p14:section name="3 · Experimentos com parâmetros" id="{47c69d03-7dcf-6ebe-f7ed-13b55534f85b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onclusões" id="{e6c27e7a-dbb6-47e4-c35c-3e4cadcffef9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Retorno médio por partida (0 = empate com a banca)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Carta do dealer</c:v>
                </c:pt>
                <c:pt idx="1">
                  <c:v>Imita o dealer</c:v>
                </c:pt>
                <c:pt idx="2">
                  <c:v>Simples ≥20</c:v>
                </c:pt>
                <c:pt idx="3">
                  <c:v>Aleatória 50/50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-0.0592</c:v>
                </c:pt>
                <c:pt idx="1">
                  <c:v>-0.0728</c:v>
                </c:pt>
                <c:pt idx="2">
                  <c:v>-0.3519</c:v>
                </c:pt>
                <c:pt idx="3">
                  <c:v>-0.3945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5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ES</c:v>
                  </c:pt>
                  <c:pt idx="1">
                    <c:v>On-Policy ε=0.01</c:v>
                  </c:pt>
                  <c:pt idx="2">
                    <c:v>On-Policy ε=0.05</c:v>
                  </c:pt>
                  <c:pt idx="3">
                    <c:v>On-Policy ε=0.1</c:v>
                  </c:pt>
                  <c:pt idx="4">
                    <c:v>On-Policy ε=0.2</c:v>
                  </c:pt>
                  <c:pt idx="5">
                    <c:v>On-Policy ε=0.4</c:v>
                  </c:pt>
                  <c:pt idx="6">
                    <c:v>On-Policy ε linear 0.5→0.01</c:v>
                  </c:pt>
                  <c:pt idx="7">
                    <c:v>ES γ=0.9</c:v>
                  </c:pt>
                  <c:pt idx="8">
                    <c:v>On-Policy ε=0.1 γ=0.9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-0.0411</c:v>
                </c:pt>
                <c:pt idx="1">
                  <c:v>-0.072</c:v>
                </c:pt>
                <c:pt idx="2">
                  <c:v>-0.0496</c:v>
                </c:pt>
                <c:pt idx="3">
                  <c:v>-0.0453</c:v>
                </c:pt>
                <c:pt idx="4">
                  <c:v>-0.0477</c:v>
                </c:pt>
                <c:pt idx="5">
                  <c:v>-0.051</c:v>
                </c:pt>
                <c:pt idx="6">
                  <c:v>-0.0503</c:v>
                </c:pt>
                <c:pt idx="7">
                  <c:v>-0.0429</c:v>
                </c:pt>
                <c:pt idx="8">
                  <c:v>-0.0446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On-Policy: ε fixo × decaimento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ε=0.01</c:v>
                  </c:pt>
                  <c:pt idx="1">
                    <c:v>ε=0.05</c:v>
                  </c:pt>
                  <c:pt idx="2">
                    <c:v>ε=0.1</c:v>
                  </c:pt>
                  <c:pt idx="3">
                    <c:v>ε=0.2</c:v>
                  </c:pt>
                  <c:pt idx="4">
                    <c:v>ε=0.4</c:v>
                  </c:pt>
                  <c:pt idx="5">
                    <c:v>ε linear 0,5→0,01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-0.072</c:v>
                </c:pt>
                <c:pt idx="1">
                  <c:v>-0.0496</c:v>
                </c:pt>
                <c:pt idx="2">
                  <c:v>-0.0453</c:v>
                </c:pt>
                <c:pt idx="3">
                  <c:v>-0.0477</c:v>
                </c:pt>
                <c:pt idx="4">
                  <c:v>-0.051</c:v>
                </c:pt>
                <c:pt idx="5">
                  <c:v>-0.0503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Efeito do desconto γ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γ = 1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ES</c:v>
                  </c:pt>
                  <c:pt idx="1">
                    <c:v>On-Policy ε=0,1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-0.0411</c:v>
                </c:pt>
                <c:pt idx="1">
                  <c:v>-0.0453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γ = 0,9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ES</c:v>
                  </c:pt>
                  <c:pt idx="1">
                    <c:v>On-Policy ε=0,1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-0.0429</c:v>
                </c:pt>
                <c:pt idx="1">
                  <c:v>-0.0446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ES original
(12–21, STICK)</c:v>
                  </c:pt>
                  <c:pt idx="1">
                    <c:v>12–21,
HIT &lt; 12</c:v>
                  </c:pt>
                  <c:pt idx="2">
                    <c:v>ES corrigido
(4–21)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-0.1334</c:v>
                </c:pt>
                <c:pt idx="1">
                  <c:v>-0.0402</c:v>
                </c:pt>
                <c:pt idx="2">
                  <c:v>-0.0411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15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pergunta que guia o trabalho: se um agente não conhece as regras do Blackjack, só joga partidas e vê o resultado, ele consegue descobrir uma boa estratégia? Os métodos de Monte Carlo respondem exatamente isso. A apresentação segue os três itens da entrega: como os algoritmos foram implementados, como se saem as políticas, e o que muda quando variamos os 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Adiantando a conclusão. Nenhuma política vence a banca. Nossa melhor política manual ("Depende da carta do dealer") perde 6 centavos por real apostado; o ES e o On-Policy, aprendendo sozinhos, chegam a só 4 centavos — superam as regras que escrevemos à mão. A política do professor, que só para com 20, perde quase 6 vezes mais. E o único ajuste que realmente atrapalhou foi epsilon muito pequeno.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algoritmos, o problema. São 280 estados possíveis, duas ações e recompensa só no final. Isso torna o Monte Carlo natural: jogar o episódio inteiro e olhar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1. Comparação linha a linha do código do professor com o capítulo 5 do Sutton e Barto. O ponto de atenção é que o 'first-visit' do original é na prática last-visit, mas no Blackjack isso não importa porque nenhum estado se repete num episódio. Verificamos isso em 50 mil episódios.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 segue a teoria, mas tinha um problema: sorteava só somas de 12 a 21 e usava STICK como padrão nas demais. Corrigimos e mostraremos o impacto no experimento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On-Policy não precisa de exploring starts: explora com probabilidade epsilon. Ele converge para a melhor política epsilon-soft, não para a ótima. Notar também que o texto do notebook cita epsilon 0,1 mas a execução usa 0,4; por isso comparamos vários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Item 2. Quatro políticas fixas: as duas do grupo ("Depende da carta do dealer" e "Imita o dealer", que só para em 17), a do professor que só para com 20, e uma aleatória como piso. Elas servem de régua para o que os algoritmos aprendem.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Todas têm retorno negativo, como esperado. "Depende da carta do dealer" fica em menos 0,059, "Imita o dealer" em menos 0,073, e a do professor em menos 0,352, quase tão ruim quanto jogar aleatoriamente.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mapas de valor mostram por quê. Somas altas valem bastante; contra dealer forte, somas de 12 a 16 são as piores. A política de parar só com 20 joga fora o valor das somas 17 a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estimativas dos estados mais frequentes estabilizam rápido; estados raros demoram mais. Também confirmamos que First-Visit e Every-Visit coincidem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Item 3 começa com um vídeo de 20 segundos. Em cima, o valor de cada estado; embaixo, a decisão. No início tudo é ruído, com poucos episódios. Conforme o treino avança, aparece o padrão: pedir carta com soma baixa e parar com soma alta. No fim, a política aprendida já diverge bastante das nossas regras manuais de limiar simples (cerca de 20% dos estados) — ela capta nuances que um limiar fixo não capta.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3 começa com um vídeo de 20 segundos. Em cima, o valor de cada estado; embaixo, a decisão. No início tudo é ruído, com poucos episódios. Conforme o treino avança, aparece o padrão: pedir carta com soma baixa e parar com soma alta. No fim, só 4% das decisões diferem da estratégia básica nas somas de 12 a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Variamos o algoritmo, o epsilon, o decaimento de epsilon, o fator de desconto e o viés do ES. Cada configuração roda com 3 sementes e 200 mil episódios.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principal: ES e On-Policy com epsilon 0,1 diferem menos que o erro de medida. Só epsilon 0,01 fica claramente pior.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vídeo: a curva de aprendizado desenhada ao vivo. O ES sobe mais rápido no começo; o On-Policy com epsilon 0,1 o alcança; epsilon 0,01 explora pouco e fica para trás. Observação: esta animação vem de uma reexecução com 10 mil partidas de teste por ponto, por isso a escala absoluta tem erro de cerca de 0,006.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Epsilon 0,01 é o único pior. O decaimento linear e gamma 0,9 não mudam o resultado de forma significativa.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sobre o código original: o ES usava STICK como padrão nas somas baixas e perdia muito mais. Basta trocar o padrão para HIT que o resultado volta ao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políticas aprendidas divergem bastante das nossas regras manuais (~20% dos estados) — mais do que ES e On-Policy divergem entre si (7%). Isso sugere que o Monte Carlo capta nuances (como o tratamento do ás e limites mais finos por carta do dealer) que nossas regras simples de limiar não capturam.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Fechamento: o código segue a teoria com algumas ressalvas; entre nossas duas políticas manuais, reagir à carta do dealer é melhor que só imitar o dealer; o Monte Carlo aprende sozinho uma política que supera as duas; e o parâmetro que mais importa é manter alguma exploração.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 é a nossa contribuição: observando os heatmaps de política (seção 6), notamos que boa parte das decisões aprendidas "param mais cedo" contra cartas baixas do dealer. Testamos essa ideia como regra explícita e ela melhora o retorno médio em 0,014 por partida — só 20% dos estados mudam de decisão, mas é justamente onde o dealer tende a estourar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Monte Carlo no Blackjack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video" Target="../media/media-18-1.mp4"/><Relationship Id="rId2" Type="http://schemas.microsoft.com/office/2007/relationships/media" Target="../media/media-18-1.mp4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Monte Carlo no Blackjack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MC · Monte Carlo ES · On-Policy ε-greedy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Ibmec São Paulo · AC2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16/10/2026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Lucas Louro Quadros · (completar)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pergunta: dá para aprender a jogar só jogando?</a:t>
            </a:r>
            <a:endParaRPr lang="en-US" sz="3200" dirty="0"/>
          </a:p>
        </p:txBody>
      </p:sp>
      <p:sp>
        <p:nvSpPr>
          <p:cNvPr id="4" name="card 1 · Implementação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Implementação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 do notebook do professor: First-Visit, Exploring Starts e On-Policy ε-greedy, comparados com a teoria (Sutton &amp; Barto, cap. 5) e com correções documentadas.</a:t>
            </a:r>
            <a:endParaRPr lang="en-US" sz="1800" dirty="0"/>
          </a:p>
        </p:txBody>
      </p:sp>
      <p:sp>
        <p:nvSpPr>
          <p:cNvPr id="7" name="card 2 · Políticas próprias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Políticas próprias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políticas avaliadas com First-Visit MC no Blackjack-v1: retorno médio, taxa de vitória e mapas de V(s) sobre os 280 estados.</a:t>
            </a:r>
            <a:endParaRPr lang="en-US" sz="1800" dirty="0"/>
          </a:p>
        </p:txBody>
      </p:sp>
      <p:sp>
        <p:nvSpPr>
          <p:cNvPr id="10" name="card 3 · Experimentos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Experimentos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× On-Policy variando ε, decaimento de ε e γ; 3 seeds por configuração e até 200.000 episódios de treino.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do zero supera nossas políticas manuais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-0,059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de "Depende da carta do dealer" (a melhor das nossas 2 políticas)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do ES treinado (3 seeds)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On-Policy: ε=0.1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jogo é desfavorável ao jogador: nenhuma política tem retorno médio positivo.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ingênuas perdem muito mais (Simples ≥20: -0,352).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do zero (ES e On-Policy) supera as duas políticas manuais do grupo em 0,014 a 0,032 de retorno médio por partida.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estado se repete em um episódio: First-Visit e Every-Visit coincidem no Blackjack.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original sorteia só somas 12–21 e usa STICK nas demais, o que o prejudica de forma artificial.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Análise da implementação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professor × teoria de Sutton &amp; Barto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ambiente: Blackjack-v1 como MDP episódico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(soma do jogador, carta do dealer, ás utilizável).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STICK = 0 (parar) e HIT = 1 (pedir carta).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só no fim: +1 vitória, 0 empate, −1 derrota.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pede carta até chegar a 17; o ás do dealer é codificado como 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desconto relevante: o retorno do episódio é a recompensa final (γ = 1).</a:t>
            </a:r>
            <a:endParaRPr lang="en-US" sz="1600" dirty="0"/>
          </a:p>
        </p:txBody>
      </p:sp>
      <p:sp>
        <p:nvSpPr>
          <p:cNvPr id="5" name="painel estados"/>
          <p:cNvSpPr/>
          <p:nvPr/>
        </p:nvSpPr>
        <p:spPr>
          <a:xfrm>
            <a:off x="6766560" y="1371600"/>
            <a:ext cx="484632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645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possíveis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somas (4–21) × 10 cartas do dealer sem ás utilizável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somas (12–21) × 10 cartas com ás utilizável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Modelo-livre: o agente só vê episódios, nunca as probabilidades de transição.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First-Visit MC: código × teoria</a:t>
            </a:r>
            <a:endParaRPr lang="en-US" sz="3200" dirty="0"/>
          </a:p>
        </p:txBody>
      </p:sp>
      <p:graphicFrame>
        <p:nvGraphicFramePr>
          <p:cNvPr id="7" name="tabela F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episódio seguindo 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gera_episodio(env, politica): lista de (estado, ação, recompensa)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← γG + R, do fim para o início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reverso: G = gamma * G + recompensa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1ª visita de cada estado conta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'visitados' no loop reverso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V(s) = média dos retornos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Returns_sum[s] / Counts[s], média amostral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card Ponto de atençã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 reverso, a checagem de 'visitados' mantém na verdade a última visita. No Blackjack isso é irrelevante: em 0 de 50.000 episódios um estado apareceu duas vezes, então First-Visit = Every-Visit (verificado em duas políticas).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ES: código × teoria</a:t>
            </a:r>
            <a:endParaRPr lang="en-US" sz="3200" dirty="0"/>
          </a:p>
        </p:txBody>
      </p:sp>
      <p:graphicFrame>
        <p:nvGraphicFramePr>
          <p:cNvPr id="8" name="tabela 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Começar de (s, a) aleatórios, depois seguir 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estado e primeira ação; depois ação greedy em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Q(s,a) = média dos retornos do par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Returns_sum[(s,a)] / Counts[(s,a)]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π(s) ← argmax_a Q(s,a)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greedy derivada de Q a cada episódio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garantida pelo início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ε: toda exploração vem do estado inicial sorteado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card Problema encontrado e corrigid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encontrado e corrigido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original só sorteia somas 12–21 e usa STICK como padrão nos estados nunca vistos. Isso afeta os estados de soma &lt; 12. Corrigimos sorteando os 280 estados e usando HIT quando a soma é &lt; 12 (Experimento E mostra o efeito).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On-Policy MC com ε-greedy: código × teoria</a:t>
            </a:r>
            <a:endParaRPr lang="en-US" sz="3200" dirty="0"/>
          </a:p>
        </p:txBody>
      </p:sp>
      <p:graphicFrame>
        <p:nvGraphicFramePr>
          <p:cNvPr id="9" name="tabela 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ε-soft: toda ação tem prob. ≥ ε/|A|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prob. ε age aleatoriamente; senão a ação greedy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Exploring 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env.reset() comum: o episódio começa no estado natural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Melhora a política sobre a própria 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atualizado e greedy recalculado; a política é implícita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 à melhor política ε-soft, não a π*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ε fixo há desempenho perdido; o decaimento de ε reduz isso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card Ponto de atençã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comentários do original trocam 'exploração' e 'exploração/aproveitamento'; e a execução do professor usa ε = 0,4 enquanto o texto cita ε ≈ 0,1 como melhor valor. Aqui comparamos vários ε explicitamente.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Desempenho das políticas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 First-Visit MC (200.000 episódios por política)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políticas avaliadas</a:t>
            </a:r>
            <a:endParaRPr lang="en-US" sz="3200" dirty="0"/>
          </a:p>
        </p:txBody>
      </p:sp>
      <p:graphicFrame>
        <p:nvGraphicFramePr>
          <p:cNvPr id="11" name="tabela polit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carta do dealer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 carta do dealer está entre 2 e 5 (mesa fraca), para com soma ≥ 12; com qualquer outra carta, para com soma ≥ 17.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Imita o dealer (≥17)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com soma ≥ 17, pede carta caso contrário — a mesma regra usada pelo próprio dealer.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≥20 (professor)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para com 20 ou 21; política do notebook do professor.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50/50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 HIT ou STICK com igual probabilidade.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política foi avaliada com First-Visit MC em 200.000 episódios; o retorno médio é a média dos retornos dos episódios (erro padrão ≈ 0,002).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cada política perde por partida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ela desempenh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carta do dealer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Imita o dealer (≥17)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≥20 (professor)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50/50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675120" y="41148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"Depende da carta do dealer" melhora o retorno médio em 0,014 por partida frente a apenas "Imitar o dealer" — mas nenhuma das duas supera a banca (a vantagem estrutural é dela).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V(s) estimado: nossas duas políticas do grupo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da carta do dealer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6263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Imita o dealer (≥17)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dealer fraco (2–5), parar em 12 já é melhor que seguir até 17: p.ex. soma 15 vs. dealer 3, V(s) sobe de -0,42 para -0,25. Contra dealer forte as duas regras coincidem (mesmo V(s)); nenhuma das duas usa a informação de ás usável — por isso os dois painéis de cada política são praticamente iguais.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grupo_v_dealer_fra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729328"/>
            <a:ext cx="5760720" cy="2667825"/>
          </a:xfrm>
          <a:prstGeom prst="rect">
            <a:avLst/>
          </a:prstGeom>
        </p:spPr>
      </p:pic>
      <p:pic>
        <p:nvPicPr>
          <p:cNvPr id="27" name="Picture 26" descr="grupo_v_imita_dea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729328"/>
            <a:ext cx="5760720" cy="2667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Onde as duas políticas do grupo discordam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grupo_decisao_imita_dea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983" y="1371600"/>
            <a:ext cx="4443984" cy="3840480"/>
          </a:xfrm>
          <a:prstGeom prst="rect">
            <a:avLst/>
          </a:prstGeom>
        </p:spPr>
      </p:pic>
      <p:pic>
        <p:nvPicPr>
          <p:cNvPr id="27" name="Picture 26" descr="grupo_decisao_dealer_fra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7" y="1371600"/>
            <a:ext cx="4443984" cy="3840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68983" y="5303520"/>
            <a:ext cx="4443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0B6E4F"/>
                </a:solidFill>
                <a:latin typeface="Cambria"/>
              </a:rPr>
              <a:t>Imita o dealer (≥17)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5303520"/>
            <a:ext cx="44439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3A6EA5"/>
                </a:solidFill>
                <a:latin typeface="Cambria"/>
              </a:rPr>
              <a:t>Depende da carta do dealer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latin typeface="Calibri"/>
              </a:rPr>
              <a:t>As duas só diferem contra dealer fraco (2–5), soma 12–16: 20% dos estados mudam de decisão, um ganho de +0,014 de retorno médio.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 e validação do First-Visit</a:t>
            </a:r>
            <a:endParaRPr lang="en-US" sz="3200" dirty="0"/>
          </a:p>
        </p:txBody>
      </p:sp>
      <p:pic>
        <p:nvPicPr>
          <p:cNvPr id="4" name="convergência estados chave" descr="convergência estados ch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2974"/>
            <a:ext cx="11247120" cy="30033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50.000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com estado repetido: First-Visit ≡ Every-Visit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466344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de estados frequentes estabilizam rápido.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raros (ás utilizável, somas baixas) têm mais ruído com o mesmo número de episódios.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Experimentos com parâmetros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× On-Policy ε-greedy, ε, decaimento e γ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1 · O ES descobre a estratégia sozinho</a:t>
            </a:r>
            <a:endParaRPr lang="en-US" sz="3200" dirty="0"/>
          </a:p>
        </p:txBody>
      </p:sp>
      <p:pic>
        <p:nvPicPr>
          <p:cNvPr id="3" name="video mapa de valo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46720" cy="4526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961120" y="1737360"/>
            <a:ext cx="2743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cima: valor V(s) de cada estado (verde = bom).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Embaixo: decisão (pedir ou parar).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ruído; no fim só 4% das decisões diferem da estratégia básica.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vídeo para reproduzir (20 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experimental</a:t>
            </a:r>
            <a:endParaRPr lang="en-US" sz="3200" dirty="0"/>
          </a:p>
        </p:txBody>
      </p:sp>
      <p:graphicFrame>
        <p:nvGraphicFramePr>
          <p:cNvPr id="17" name="tabela experim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12064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 variados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× On-Policy; ε ∈ {0,01; 0,05; 0,1; 0,2; 0,4}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algoritmo/ε dá melhor política?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linear de 0,5 até 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Decair ε ajuda?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0,9 contra γ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muda a política?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com sorteio 12–21 × 4–21; STICK × HIT padrão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viés do original importa?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configuração: 3 seeds, até 200.000 episódios de treino; a política final de cada seed é testada em 50.000 partidas independentes (erro padrão ≈ 0,004). O desvio entre seeds está na tabela do próximo slide.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 On-Policy chegam ao mesmo lugar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71323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ela resum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 linear 0.5→0.01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γ=0.9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ε=0.1 γ=0.9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52578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(-0,041) e On-Policy ε=0,1 (-0,045) diferem menos que o erro padrão de uma avaliação (≈ 0,004): empate estatístico.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2 · Quem aprende mais rápido</a:t>
            </a:r>
            <a:endParaRPr lang="en-US" sz="3200" dirty="0"/>
          </a:p>
        </p:txBody>
      </p:sp>
      <p:pic>
        <p:nvPicPr>
          <p:cNvPr id="3" name="video curva de aprendizad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46720" cy="4526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observar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961120" y="17373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sobe mais rápido nos primeiros episódios.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ε = 0,1 o alcança no fim.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0,01 explora pouco e fica para trás.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96112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 de uma reexecução com 10 mil partidas de teste por ponto (erro ≈ ±0,006). Os valores finais do experimento estão nos slides seguintes.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97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vídeo para reproduzir (16 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de ε, decaimento e γ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28016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0,01 é o único claramente pior (-0,072); de 0,05 a 0,4 as diferenças ficam dentro do erro (≈ 0,004). O decaimento de ε e γ = 0,9 não mudam o resultado de forma significativa.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viés das somas &lt; 12 no ES original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original: -0,133 contra -0,041 do ES corrigido.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prejuízo vem do STICK como ação padrão nas somas &lt; 12, onde parar nunca faz sentido: só trocar o padrão para HIT já dá -0,040.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também as somas baixas não muda o resultado (diferença de 0,001): os estados de soma &lt; 12 são visitados de qualquer forma.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também para a estratégia básica avaliada com o mesmo dicionário: −0,134 contra −0,047.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aprendidas: ES × On-Policy ε = 0,1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6263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On-Policy ε = 0,1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Divergência: ES × "Depende da carta do dealer" 20,5%; On-Policy × "Depende da carta do dealer" 20,5%; ES × On-Policy 7,0% dos 200 estados com soma 12–21.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  <p:pic>
        <p:nvPicPr>
          <p:cNvPr id="26" name="Picture 25" descr="politica_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461804"/>
            <a:ext cx="5760720" cy="3202871"/>
          </a:xfrm>
          <a:prstGeom prst="rect">
            <a:avLst/>
          </a:prstGeom>
        </p:spPr>
      </p:pic>
      <p:pic>
        <p:nvPicPr>
          <p:cNvPr id="27" name="Picture 26" descr="politica_onpolicy_ep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461804"/>
            <a:ext cx="5760720" cy="32028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200" dirty="0"/>
          </a:p>
        </p:txBody>
      </p:sp>
      <p:sp>
        <p:nvSpPr>
          <p:cNvPr id="4" name="card Implementação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segue a teoria, com três ressalvas: o viés das somas &lt; 12 no ES, o 'First-Visit' que na prática é last-visit e a terminologia trocada nos comentários. Nenhuma altera a conclusão geral.</a:t>
            </a:r>
            <a:endParaRPr lang="en-US" sz="1600" dirty="0"/>
          </a:p>
        </p:txBody>
      </p:sp>
      <p:sp>
        <p:nvSpPr>
          <p:cNvPr id="7" name="card Políticas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"Depende da carta do dealer" é a melhor das nossas (-0,059); "Imita o dealer" fica em -0,073; Simples ≥20 do professor é ruim (-0,352). Nenhuma supera a banca.</a:t>
            </a:r>
            <a:endParaRPr lang="en-US" sz="1600" dirty="0"/>
          </a:p>
        </p:txBody>
      </p:sp>
      <p:sp>
        <p:nvSpPr>
          <p:cNvPr id="10" name="card Experimentos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corrigido: -0,041. Melhor On-Policy: -0,045 (ε=0.1). Os dois superam nossa melhor política manual (-0,059) e empatam estatisticamente entre si (erro padrão ≈ 0,004); só ε = 0,01 é pior.</a:t>
            </a:r>
            <a:endParaRPr lang="en-US" sz="1600" dirty="0"/>
          </a:p>
        </p:txBody>
      </p:sp>
      <p:sp>
        <p:nvSpPr>
          <p:cNvPr id="13" name="card Limitações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seeds; o valor de ε depende do número de episódios; as conclusões valem para o Blackjack-v1 com baralho infinito.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Sutton, R. S.; Barto, A. G. Reinforcement Learning: An Introduction, 2ª ed., 2018. Cap. 5 (Monte Carlo Methods).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do professor: Aula_13_14_Monte_Carlo_RL_Didatico.ipynb (DeepFluxion/2026_2_IBMEC_APRENDIZADO_REFORCO).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Gymnasium: Blackjack-v1, documentação oficial.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resultados do grupo: notebooks/experimentos.ipynb e pasta resultados/.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jack MC">
  <a:themeElements>
    <a:clrScheme name="Blackjack MC">
      <a:dk1>
        <a:srgbClr val="1B1F23"/>
      </a:dk1>
      <a:lt1>
        <a:srgbClr val="FFFFFF"/>
      </a:lt1>
      <a:dk2>
        <a:srgbClr val="0B3D2E"/>
      </a:dk2>
      <a:lt2>
        <a:srgbClr val="EEF3F0"/>
      </a:lt2>
      <a:accent1>
        <a:srgbClr val="0B6E4F"/>
      </a:accent1>
      <a:accent2>
        <a:srgbClr val="C9A227"/>
      </a:accent2>
      <a:accent3>
        <a:srgbClr val="B23A48"/>
      </a:accent3>
      <a:accent4>
        <a:srgbClr val="3A6EA5"/>
      </a:accent4>
      <a:accent5>
        <a:srgbClr val="6B7C85"/>
      </a:accent5>
      <a:accent6>
        <a:srgbClr val="7A5BB5"/>
      </a:accent6>
      <a:hlink>
        <a:srgbClr val="3A6EA5"/>
      </a:hlink>
      <a:folHlink>
        <a:srgbClr val="6B7C85"/>
      </a:folHlink>
    </a:clrScheme>
    <a:fontScheme name="Blackjack M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Monte Carlo no Blackjack</dc:title>
  <dc:subject>PptxGenJS Presentation</dc:subject>
  <dc:creator>Lucas — Ibmec São Paulo</dc:creator>
  <cp:lastModifiedBy>Lucas — Ibmec São Paulo</cp:lastModifiedBy>
  <cp:revision>1</cp:revision>
  <dcterms:created xsi:type="dcterms:W3CDTF">2026-10-13T21:31:14Z</dcterms:created>
  <dcterms:modified xsi:type="dcterms:W3CDTF">2026-10-13T21:31:14Z</dcterms:modified>
</cp:coreProperties>
</file>