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6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760e08dc-7535-3991-3e09-90dd58fd028b}">
          <p14:sldIdLst>
            <p14:sldId id="257"/>
            <p14:sldId id="258"/>
          </p14:sldIdLst>
        </p14:section>
        <p14:section name="1 · Análise da implementação" id="{f440da33-a04e-c8b2-ac48-0e117b52b311}">
          <p14:sldIdLst>
            <p14:sldId id="259"/>
            <p14:sldId id="260"/>
            <p14:sldId id="261"/>
            <p14:sldId id="262"/>
            <p14:sldId id="263"/>
          </p14:sldIdLst>
        </p14:section>
        <p14:section name="2 · Desempenho das políticas" id="{4411ce78-e5cf-06d6-8984-8b7c87055ec2}">
          <p14:sldIdLst>
            <p14:sldId id="264"/>
            <p14:sldId id="265"/>
            <p14:sldId id="266"/>
            <p14:sldId id="267"/>
            <p14:sldId id="268"/>
          </p14:sldIdLst>
        </p14:section>
        <p14:section name="3 · Experimentos com parâmetros" id="{8cee53d8-c6f3-c2da-f44a-ef23c5acbc60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onclusões" id="{3ff22264-1014-17c4-c443-0b02a11a923a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3"/>
                </a:solidFill>
                <a:latin typeface="+mn-lt"/>
              </a:rPr>
              <a:t>Retorno médio por partida (0 = empate com a banca)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Retorno médio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Estratégia básica</c:v>
                  </c:pt>
                  <c:pt idx="1">
                    <c:v>Conservadora ≥17</c:v>
                  </c:pt>
                  <c:pt idx="2">
                    <c:v>Simples ≥20 (professor)</c:v>
                  </c:pt>
                  <c:pt idx="3">
                    <c:v>Aleatória 50/50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-0.0406</c:v>
                </c:pt>
                <c:pt idx="1">
                  <c:v>-0.0728</c:v>
                </c:pt>
                <c:pt idx="2">
                  <c:v>-0.3519</c:v>
                </c:pt>
                <c:pt idx="3">
                  <c:v>-0.3962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high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5"/>
        </c:scaling>
        <c:delete val="0"/>
        <c:axPos val="b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Retorno médio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ES</c:v>
                  </c:pt>
                  <c:pt idx="1">
                    <c:v>On-Policy ε=0.01</c:v>
                  </c:pt>
                  <c:pt idx="2">
                    <c:v>On-Policy ε=0.05</c:v>
                  </c:pt>
                  <c:pt idx="3">
                    <c:v>On-Policy ε=0.1</c:v>
                  </c:pt>
                  <c:pt idx="4">
                    <c:v>On-Policy ε=0.2</c:v>
                  </c:pt>
                  <c:pt idx="5">
                    <c:v>On-Policy ε=0.4</c:v>
                  </c:pt>
                  <c:pt idx="6">
                    <c:v>On-Policy ε linear 0.5→0.01</c:v>
                  </c:pt>
                  <c:pt idx="7">
                    <c:v>ES γ=0.9</c:v>
                  </c:pt>
                  <c:pt idx="8">
                    <c:v>On-Policy ε=0.1 γ=0.9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-0.0411</c:v>
                </c:pt>
                <c:pt idx="1">
                  <c:v>-0.072</c:v>
                </c:pt>
                <c:pt idx="2">
                  <c:v>-0.0496</c:v>
                </c:pt>
                <c:pt idx="3">
                  <c:v>-0.0453</c:v>
                </c:pt>
                <c:pt idx="4">
                  <c:v>-0.0477</c:v>
                </c:pt>
                <c:pt idx="5">
                  <c:v>-0.051</c:v>
                </c:pt>
                <c:pt idx="6">
                  <c:v>-0.0503</c:v>
                </c:pt>
                <c:pt idx="7">
                  <c:v>-0.0429</c:v>
                </c:pt>
                <c:pt idx="8">
                  <c:v>-0.0446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high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09"/>
        </c:scaling>
        <c:delete val="0"/>
        <c:axPos val="b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</c:v>
                </c:pt>
              </c:strCache>
            </c:strRef>
          </c:tx>
          <c:spPr>
            <a:solidFill>
              <a:srgbClr val="0B3D2E"/>
            </a:solidFill>
            <a:ln w="31750" cap="flat">
              <a:solidFill>
                <a:srgbClr val="0B3D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B3D2E"/>
              </a:solidFill>
              <a:ln w="9525" cap="flat">
                <a:solidFill>
                  <a:srgbClr val="0B3D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5k</c:v>
                  </c:pt>
                  <c:pt idx="1">
                    <c:v>10k</c:v>
                  </c:pt>
                  <c:pt idx="2">
                    <c:v>20k</c:v>
                  </c:pt>
                  <c:pt idx="3">
                    <c:v>50k</c:v>
                  </c:pt>
                  <c:pt idx="4">
                    <c:v>100k</c:v>
                  </c:pt>
                  <c:pt idx="5">
                    <c:v>200k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-0.0873</c:v>
                </c:pt>
                <c:pt idx="1">
                  <c:v>-0.077</c:v>
                </c:pt>
                <c:pt idx="2">
                  <c:v>-0.0623</c:v>
                </c:pt>
                <c:pt idx="3">
                  <c:v>-0.0559</c:v>
                </c:pt>
                <c:pt idx="4">
                  <c:v>-0.0493</c:v>
                </c:pt>
                <c:pt idx="5">
                  <c:v>-0.0484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 ε=0.01</c:v>
                </c:pt>
              </c:strCache>
            </c:strRef>
          </c:tx>
          <c:spPr>
            <a:solidFill>
              <a:srgbClr val="B23A48"/>
            </a:solidFill>
            <a:ln w="31750" cap="flat">
              <a:solidFill>
                <a:srgbClr val="B23A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B23A48"/>
              </a:solidFill>
              <a:ln w="9525" cap="flat">
                <a:solidFill>
                  <a:srgbClr val="B23A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5k</c:v>
                  </c:pt>
                  <c:pt idx="1">
                    <c:v>10k</c:v>
                  </c:pt>
                  <c:pt idx="2">
                    <c:v>20k</c:v>
                  </c:pt>
                  <c:pt idx="3">
                    <c:v>50k</c:v>
                  </c:pt>
                  <c:pt idx="4">
                    <c:v>100k</c:v>
                  </c:pt>
                  <c:pt idx="5">
                    <c:v>200k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-0.1465</c:v>
                </c:pt>
                <c:pt idx="1">
                  <c:v>-0.1329</c:v>
                </c:pt>
                <c:pt idx="2">
                  <c:v>-0.1222</c:v>
                </c:pt>
                <c:pt idx="3">
                  <c:v>-0.0993</c:v>
                </c:pt>
                <c:pt idx="4">
                  <c:v>-0.0951</c:v>
                </c:pt>
                <c:pt idx="5">
                  <c:v>-0.0638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 ε=0.1</c:v>
                </c:pt>
              </c:strCache>
            </c:strRef>
          </c:tx>
          <c:spPr>
            <a:solidFill>
              <a:srgbClr val="3A6EA5"/>
            </a:solidFill>
            <a:ln w="31750" cap="flat">
              <a:solidFill>
                <a:srgbClr val="3A6E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A6EA5"/>
              </a:solidFill>
              <a:ln w="9525" cap="flat">
                <a:solidFill>
                  <a:srgbClr val="3A6E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5k</c:v>
                  </c:pt>
                  <c:pt idx="1">
                    <c:v>10k</c:v>
                  </c:pt>
                  <c:pt idx="2">
                    <c:v>20k</c:v>
                  </c:pt>
                  <c:pt idx="3">
                    <c:v>50k</c:v>
                  </c:pt>
                  <c:pt idx="4">
                    <c:v>100k</c:v>
                  </c:pt>
                  <c:pt idx="5">
                    <c:v>200k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-0.1167</c:v>
                </c:pt>
                <c:pt idx="1">
                  <c:v>-0.09</c:v>
                </c:pt>
                <c:pt idx="2">
                  <c:v>-0.0877</c:v>
                </c:pt>
                <c:pt idx="3">
                  <c:v>-0.0662</c:v>
                </c:pt>
                <c:pt idx="4">
                  <c:v>-0.0505</c:v>
                </c:pt>
                <c:pt idx="5">
                  <c:v>-0.0447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OP ε=0.4</c:v>
                </c:pt>
              </c:strCache>
            </c:strRef>
          </c:tx>
          <c:spPr>
            <a:solidFill>
              <a:srgbClr val="C9A227"/>
            </a:solidFill>
            <a:ln w="3175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5k</c:v>
                  </c:pt>
                  <c:pt idx="1">
                    <c:v>10k</c:v>
                  </c:pt>
                  <c:pt idx="2">
                    <c:v>20k</c:v>
                  </c:pt>
                  <c:pt idx="3">
                    <c:v>50k</c:v>
                  </c:pt>
                  <c:pt idx="4">
                    <c:v>100k</c:v>
                  </c:pt>
                  <c:pt idx="5">
                    <c:v>200k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-0.0983</c:v>
                </c:pt>
                <c:pt idx="1">
                  <c:v>-0.0818</c:v>
                </c:pt>
                <c:pt idx="2">
                  <c:v>-0.074</c:v>
                </c:pt>
                <c:pt idx="3">
                  <c:v>-0.0579</c:v>
                </c:pt>
                <c:pt idx="4">
                  <c:v>-0.0595</c:v>
                </c:pt>
                <c:pt idx="5">
                  <c:v>-0.0517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 ε linear 0.5→0.01</c:v>
                </c:pt>
              </c:strCache>
            </c:strRef>
          </c:tx>
          <c:spPr>
            <a:solidFill>
              <a:srgbClr val="7A5BB5"/>
            </a:solidFill>
            <a:ln w="31750" cap="flat">
              <a:solidFill>
                <a:srgbClr val="7A5B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7A5BB5"/>
              </a:solidFill>
              <a:ln w="9525" cap="flat">
                <a:solidFill>
                  <a:srgbClr val="7A5B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5k</c:v>
                  </c:pt>
                  <c:pt idx="1">
                    <c:v>10k</c:v>
                  </c:pt>
                  <c:pt idx="2">
                    <c:v>20k</c:v>
                  </c:pt>
                  <c:pt idx="3">
                    <c:v>50k</c:v>
                  </c:pt>
                  <c:pt idx="4">
                    <c:v>100k</c:v>
                  </c:pt>
                  <c:pt idx="5">
                    <c:v>200k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-0.0989</c:v>
                </c:pt>
                <c:pt idx="1">
                  <c:v>-0.0859</c:v>
                </c:pt>
                <c:pt idx="2">
                  <c:v>-0.0753</c:v>
                </c:pt>
                <c:pt idx="3">
                  <c:v>-0.0641</c:v>
                </c:pt>
                <c:pt idx="4">
                  <c:v>-0.0616</c:v>
                </c:pt>
                <c:pt idx="5">
                  <c:v>-0.0519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episódios de treino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16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retorno médio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3"/>
                </a:solidFill>
                <a:latin typeface="+mn-lt"/>
              </a:rPr>
              <a:t>On-Policy: ε fixo × decaimento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retorno médio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ε=0.01</c:v>
                  </c:pt>
                  <c:pt idx="1">
                    <c:v>ε=0.05</c:v>
                  </c:pt>
                  <c:pt idx="2">
                    <c:v>ε=0.1</c:v>
                  </c:pt>
                  <c:pt idx="3">
                    <c:v>ε=0.2</c:v>
                  </c:pt>
                  <c:pt idx="4">
                    <c:v>ε=0.4</c:v>
                  </c:pt>
                  <c:pt idx="5">
                    <c:v>ε linear 0,5→0,01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-0.072</c:v>
                </c:pt>
                <c:pt idx="1">
                  <c:v>-0.0496</c:v>
                </c:pt>
                <c:pt idx="2">
                  <c:v>-0.0453</c:v>
                </c:pt>
                <c:pt idx="3">
                  <c:v>-0.0477</c:v>
                </c:pt>
                <c:pt idx="4">
                  <c:v>-0.051</c:v>
                </c:pt>
                <c:pt idx="5">
                  <c:v>-0.0503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09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3"/>
                </a:solidFill>
                <a:latin typeface="+mn-lt"/>
              </a:rPr>
              <a:t>Efeito do desconto γ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γ = 1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ES</c:v>
                  </c:pt>
                  <c:pt idx="1">
                    <c:v>On-Policy ε=0,1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-0.0411</c:v>
                </c:pt>
                <c:pt idx="1">
                  <c:v>-0.0453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γ = 0,9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ES</c:v>
                  </c:pt>
                  <c:pt idx="1">
                    <c:v>On-Policy ε=0,1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-0.0429</c:v>
                </c:pt>
                <c:pt idx="1">
                  <c:v>-0.0446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09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retorno médio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23A4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6E4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ES original
(12–21, STICK)</c:v>
                  </c:pt>
                  <c:pt idx="1">
                    <c:v>12–21,
HIT &lt; 12</c:v>
                  </c:pt>
                  <c:pt idx="2">
                    <c:v>ES corrigido
(4–21)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-0.1334</c:v>
                </c:pt>
                <c:pt idx="1">
                  <c:v>-0.0402</c:v>
                </c:pt>
                <c:pt idx="2">
                  <c:v>-0.0411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15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Monte Carlo no Blackjack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de Monte Carlo no Blackjack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First-Visit MC · Monte Carlo ES · On-Policy ε-greedy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754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Ibmec São Paulo · AC2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D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16/10/2026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Lucas Louro Quadros · (completar)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 e o que a entrega pede</a:t>
            </a:r>
            <a:endParaRPr lang="en-US" sz="3200" dirty="0"/>
          </a:p>
        </p:txBody>
      </p:sp>
      <p:sp>
        <p:nvSpPr>
          <p:cNvPr id="3" name="card 1 · Implementação"/>
          <p:cNvSpPr/>
          <p:nvPr/>
        </p:nvSpPr>
        <p:spPr>
          <a:xfrm>
            <a:off x="548640" y="146304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Implementação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crítica do notebook do professor: First-Visit, Exploring Starts e On-Policy ε-greedy, comparados com a teoria (Sutton &amp; Barto, cap. 5) e com correções documentadas.</a:t>
            </a:r>
            <a:endParaRPr lang="en-US" sz="1800" dirty="0"/>
          </a:p>
        </p:txBody>
      </p:sp>
      <p:sp>
        <p:nvSpPr>
          <p:cNvPr id="6" name="card 2 · Políticas próprias"/>
          <p:cNvSpPr/>
          <p:nvPr/>
        </p:nvSpPr>
        <p:spPr>
          <a:xfrm>
            <a:off x="4297680" y="146304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Políticas próprias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01168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políticas avaliadas com First-Visit MC no Blackjack-v1: retorno médio, taxa de vitória e mapas de V(s) sobre os 280 estados.</a:t>
            </a:r>
            <a:endParaRPr lang="en-US" sz="1800" dirty="0"/>
          </a:p>
        </p:txBody>
      </p:sp>
      <p:sp>
        <p:nvSpPr>
          <p:cNvPr id="9" name="card 3 · Experimentos"/>
          <p:cNvSpPr/>
          <p:nvPr/>
        </p:nvSpPr>
        <p:spPr>
          <a:xfrm>
            <a:off x="8046720" y="146304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Experimentos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01168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× On-Policy variando ε, decaimento de ε e γ; 3 seeds por configuração e até 200.000 episódios de treino.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dos resultados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-0,041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médio da estratégia básica (a melhor política avaliada)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-0,041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286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médio do ES treinado (3 seeds)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-0,045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286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On-Policy: ε=0.1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jogo é desfavorável ao jogador: nenhuma política tem retorno médio positivo.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ingênuas perdem muito mais (Simples ≥20: -0,352).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 On-Policy chegam a políticas quase idênticas à estratégia básica; só ε = 0,01 fica claramente pior.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estado se repete em um episódio: First-Visit e Every-Visit coincidem no Blackjack.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 original sorteia só somas 12–21 e usa STICK nas demais, o que o prejudica de forma artificial.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Análise da implementação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do professor × teoria de Sutton &amp; Barto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ambiente: Blackjack-v1 como MDP episódico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(soma do jogador, carta do dealer, ás utilizável).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Ações: STICK = 0 (parar) e HIT = 1 (pedir carta).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 só no fim: +1 vitória, 0 empate, −1 derrota.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pede carta até chegar a 17; o ás do dealer é codificado como 1.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desconto relevante: o retorno do episódio é a recompensa final (γ = 1).</a:t>
            </a:r>
            <a:endParaRPr lang="en-US" sz="1600" dirty="0"/>
          </a:p>
        </p:txBody>
      </p:sp>
      <p:sp>
        <p:nvSpPr>
          <p:cNvPr id="4" name="painel estados"/>
          <p:cNvSpPr/>
          <p:nvPr/>
        </p:nvSpPr>
        <p:spPr>
          <a:xfrm>
            <a:off x="6766560" y="1371600"/>
            <a:ext cx="484632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0" y="16459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24688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possíveis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0" y="3108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somas (4–21) × 10 cartas do dealer sem ás utilizável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 somas (12–21) × 10 cartas com ás utilizável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42062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Modelo-livre: o agente só vê episódios, nunca as probabilidades de transição.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First-Visit MC: código × teoria</a:t>
            </a:r>
            <a:endParaRPr lang="en-US" sz="3200" dirty="0"/>
          </a:p>
        </p:txBody>
      </p:sp>
      <p:graphicFrame>
        <p:nvGraphicFramePr>
          <p:cNvPr id="7" name="tabela FV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Teoria (S&amp;B 5.1)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código do professor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Gerar episódio seguindo 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gera_episodio(env, politica): lista de (estado, ação, recompensa)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← γG + R, do fim para o início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reverso: G = gamma * G + recompensa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a 1ª visita de cada estado conta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 'visitados' no loop reverso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V(s) = média dos retornos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Returns_sum[s] / Counts[s], média amostral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4" name="card Ponto de atenção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4343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 de atenção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loop reverso, a checagem de 'visitados' mantém na verdade a última visita. No Blackjack isso é irrelevante: em 0 de 50.000 episódios um estado apareceu duas vezes, então First-Visit = Every-Visit (verificado em duas políticas).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Carlo ES: código × teoria</a:t>
            </a:r>
            <a:endParaRPr lang="en-US" sz="3200" dirty="0"/>
          </a:p>
        </p:txBody>
      </p:sp>
      <p:graphicFrame>
        <p:nvGraphicFramePr>
          <p:cNvPr id="8" name="tabela 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Teoria (S&amp;B 5.3)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código do professor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Começar de (s, a) aleatórios, depois seguir 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Sorteia estado e primeira ação; depois ação greedy em 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Q(s,a) = média dos retornos do par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Returns_sum[(s,a)] / Counts[(s,a)]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π(s) ← argmax_a Q(s,a)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greedy derivada de Q a cada episódio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Exploração garantida pelo início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ε: toda exploração vem do estado inicial sorteado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4" name="card Problema encontrado e corrigido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4343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encontrado e corrigido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 original só sorteia somas 12–21 e usa STICK como padrão nos estados nunca vistos. Isso afeta os estados de soma &lt; 12. Corrigimos sorteando os 280 estados e usando HIT quando a soma é &lt; 12 (Experimento E mostra o efeito).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On-Policy MC com ε-greedy: código × teoria</a:t>
            </a:r>
            <a:endParaRPr lang="en-US" sz="3200" dirty="0"/>
          </a:p>
        </p:txBody>
      </p:sp>
      <p:graphicFrame>
        <p:nvGraphicFramePr>
          <p:cNvPr id="9" name="tabela O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Teoria (S&amp;B 5.4)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código do professor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ε-soft: toda ação tem prob. ≥ ε/|A|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prob. ε age aleatoriamente; senão a ação greedy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Exploring Starts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env.reset() comum: o episódio começa no estado natural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Melhora a política sobre a própria política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atualizado e greedy recalculado; a política é implícita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 à melhor política ε-soft, não a π*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ε fixo há desempenho perdido; o decaimento de ε reduz isso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4" name="card Ponto de atenção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4343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 de atenção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comentários do original trocam 'exploração' e 'exploração/aproveitamento'; e a execução do professor usa ε = 0,4 enquanto o texto cita ε ≈ 0,1 como melhor valor. Aqui comparamos vários ε explicitamente.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Desempenho das políticas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com First-Visit MC (200.000 episódios por política)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quatro políticas avaliadas</a:t>
            </a:r>
            <a:endParaRPr lang="en-US" sz="3200" dirty="0"/>
          </a:p>
        </p:txBody>
      </p:sp>
      <p:graphicFrame>
        <p:nvGraphicFramePr>
          <p:cNvPr id="11" name="tabela politic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Lógica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Estratégia básica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 clássica: tabelas de HIT/STICK por soma, carta do dealer e ás.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Conservadora ≥17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com soma ≥ 17, pede carta caso contrário.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 ≥20 (professor)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para com 20 ou 21; política do notebook do professor.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Aleatória 50/50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Escolhe HIT ou STICK com igual probabilidade.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política foi avaliada com First-Visit MC em 200.000 episódios; o retorno médio é a média dos retornos dos episódios (erro padrão ≈ 0,002).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Desempenho: retorno médio por política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8521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ela desempenh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463040"/>
          <a:ext cx="4937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Estratégia básica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Conservadora ≥17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 ≥20 (professor)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Aleatória 50/50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675120" y="41148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estratégia básica fica -0,311 acima da política do professor, mas ainda perde em média: a vantagem estrutural é da banca.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V(s) estimado: estratégia básica × Simples ≥20</a:t>
            </a:r>
            <a:endParaRPr lang="en-US" sz="3200" dirty="0"/>
          </a:p>
        </p:txBody>
      </p:sp>
      <p:pic>
        <p:nvPicPr>
          <p:cNvPr id="3" name="heatmap V estratégia básica" descr="heatmap V estratégia bás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29328"/>
            <a:ext cx="5760720" cy="2667825"/>
          </a:xfrm>
          <a:prstGeom prst="rect">
            <a:avLst/>
          </a:prstGeom>
        </p:spPr>
      </p:pic>
      <p:pic>
        <p:nvPicPr>
          <p:cNvPr id="4" name="heatmap V simples 20" descr="heatmap V simples 2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729328"/>
            <a:ext cx="5760720" cy="266782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básica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626364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Simples ≥20 (professor)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Somas altas (≥19) concentram o valor positivo; com soma 12–16 contra dealer forte (10 ou ás) o valor é o pior. A política ≥20 não aproveita somas 17–19, que valem bastante.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Convergência e validação do First-Visit</a:t>
            </a:r>
            <a:endParaRPr lang="en-US" sz="3200" dirty="0"/>
          </a:p>
        </p:txBody>
      </p:sp>
      <p:pic>
        <p:nvPicPr>
          <p:cNvPr id="3" name="convergência estados chave" descr="convergência estados cha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2974"/>
            <a:ext cx="11247120" cy="300333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50.000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394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episódios com estado repetido: First-Visit ≡ Every-Visit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4663440"/>
            <a:ext cx="7406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Estimativas de estados frequentes estabilizam rápido.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raros (ás utilizável, somas baixas) têm mais ruído com o mesmo número de episódios.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Experimentos com parâmetros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× On-Policy ε-greedy, ε, decaimento e γ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Desenho experimental</a:t>
            </a:r>
            <a:endParaRPr lang="en-US" sz="3200" dirty="0"/>
          </a:p>
        </p:txBody>
      </p:sp>
      <p:graphicFrame>
        <p:nvGraphicFramePr>
          <p:cNvPr id="16" name="tabela experiment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120640"/>
                <a:gridCol w="4297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Parâmetros variados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× On-Policy; ε ∈ {0,01; 0,05; 0,1; 0,2; 0,4}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 algoritmo/ε dá melhor política?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 linear de 0,5 até 0,01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Decair ε ajuda?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= 0,9 contra γ =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Desconto muda a política?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com sorteio 12–21 × 4–21; STICK × HIT padrão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viés do original importa?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720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configuração: 3 seeds, até 200.000 episódios de treino; a política final de cada seed é testada em 50.000 partidas independentes (erro padrão ≈ 0,004). O desvio entre seeds está na tabela do próximo slide.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× On-Policy: retorno médio da política final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71323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tabela resum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280160"/>
          <a:ext cx="4023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68680"/>
                <a:gridCol w="868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seeds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ε=0.01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ε=0.05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ε=0.1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ε=0.2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ε=0.4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 linear 0.5→0.01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γ=0.9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ε=0.1 γ=0.9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772400" y="52578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(-0,041) e On-Policy ε=0,1 (-0,045) diferem menos que o erro padrão de uma avaliação (≈ 0,004): empate estatístico.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Curvas de aprendizado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768096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412480" y="1371600"/>
            <a:ext cx="32918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 aprende mais rápido: com 5 mil episódios já está em −0,087, contra −0,10 a −0,15 dos On-Policy.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0,01 é o mais lento: explora pouco e ainda está em −0,064 aos 200 mil episódios.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fim, quase todas as configurações convergem para perto de −0,05.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 de ε, decaimento e γ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492240" y="1280160"/>
          <a:ext cx="5212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0,01 é o único claramente pior (-0,072); de 0,05 a 0,4 as diferenças ficam dentro do erro (≈ 0,004). O decaimento de ε e γ = 0,9 não mudam o resultado de forma significativa.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viés das somas &lt; 12 no ES original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6217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949440" y="137160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original: -0,133 contra -0,041 do ES corrigido.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prejuízo vem do STICK como ação padrão nas somas &lt; 12, onde parar nunca faz sentido: só trocar o padrão para HIT já dá -0,040.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Sortear também as somas baixas não muda o resultado (diferença de 0,001): os estados de soma &lt; 12 são visitados de qualquer forma.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também para a estratégia básica avaliada com o mesmo dicionário: −0,134 contra −0,047.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Políticas aprendidas: ES × On-Policy ε = 0,1</a:t>
            </a:r>
            <a:endParaRPr lang="en-US" sz="3200" dirty="0"/>
          </a:p>
        </p:txBody>
      </p:sp>
      <p:pic>
        <p:nvPicPr>
          <p:cNvPr id="3" name="política ES" descr="política 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1804"/>
            <a:ext cx="5760720" cy="3202871"/>
          </a:xfrm>
          <a:prstGeom prst="rect">
            <a:avLst/>
          </a:prstGeom>
        </p:spPr>
      </p:pic>
      <p:pic>
        <p:nvPicPr>
          <p:cNvPr id="4" name="política On-Policy" descr="política On-Polic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461804"/>
            <a:ext cx="5760720" cy="320287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626364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On-Policy ε = 0,1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Divergência: ES × estratégia básica 3,5%; On-Policy × estratégia básica 11,0%; ES × On-Policy 13,5% dos 200 estados com soma 12–21.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3200" dirty="0"/>
          </a:p>
        </p:txBody>
      </p:sp>
      <p:sp>
        <p:nvSpPr>
          <p:cNvPr id="3" name="card Implementação"/>
          <p:cNvSpPr/>
          <p:nvPr/>
        </p:nvSpPr>
        <p:spPr>
          <a:xfrm>
            <a:off x="548640" y="137160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Implementação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segue a teoria, com três ressalvas: o viés das somas &lt; 12 no ES, o 'First-Visit' que na prática é last-visit e a terminologia trocada nos comentários. Nenhuma altera a conclusão geral.</a:t>
            </a:r>
            <a:endParaRPr lang="en-US" sz="1600" dirty="0"/>
          </a:p>
        </p:txBody>
      </p:sp>
      <p:sp>
        <p:nvSpPr>
          <p:cNvPr id="6" name="card Políticas"/>
          <p:cNvSpPr/>
          <p:nvPr/>
        </p:nvSpPr>
        <p:spPr>
          <a:xfrm>
            <a:off x="6217920" y="137160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202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estratégia básica é a melhor (-0,041); a Simples ≥20 do professor é ruim (-0,352). Nenhuma supera a banca.</a:t>
            </a:r>
            <a:endParaRPr lang="en-US" sz="1600" dirty="0"/>
          </a:p>
        </p:txBody>
      </p:sp>
      <p:sp>
        <p:nvSpPr>
          <p:cNvPr id="9" name="card Experimentos"/>
          <p:cNvSpPr/>
          <p:nvPr/>
        </p:nvSpPr>
        <p:spPr>
          <a:xfrm>
            <a:off x="548640" y="384048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3891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corrigido: -0,041. Melhor On-Policy: -0,045 (ε=0.1). ES e On-Policy empatam estatisticamente (erro padrão ≈ 0,004); só ε = 0,01 é pior.</a:t>
            </a:r>
            <a:endParaRPr lang="en-US" sz="1600" dirty="0"/>
          </a:p>
        </p:txBody>
      </p:sp>
      <p:sp>
        <p:nvSpPr>
          <p:cNvPr id="12" name="card Limitações"/>
          <p:cNvSpPr/>
          <p:nvPr/>
        </p:nvSpPr>
        <p:spPr>
          <a:xfrm>
            <a:off x="6217920" y="384048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3891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Poucas seeds; o valor de ε depende do número de episódios; as conclusões valem para o Blackjack-v1 com baralho infinito.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Sutton, R. S.; Barto, A. G. Reinforcement Learning: An Introduction, 2ª ed., 2018. Cap. 5 (Monte Carlo Methods).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do professor: Aula_13_14_Monte_Carlo_RL_Didatico.ipynb (DeepFluxion/2026_2_IBMEC_APRENDIZADO_REFORCO).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Gymnasium: Blackjack-v1, documentação oficial.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 resultados do grupo: notebooks/experimentos.ipynb e pasta resultados/.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jack MC">
  <a:themeElements>
    <a:clrScheme name="Blackjack MC">
      <a:dk1>
        <a:srgbClr val="1B1F23"/>
      </a:dk1>
      <a:lt1>
        <a:srgbClr val="FFFFFF"/>
      </a:lt1>
      <a:dk2>
        <a:srgbClr val="0B3D2E"/>
      </a:dk2>
      <a:lt2>
        <a:srgbClr val="EEF3F0"/>
      </a:lt2>
      <a:accent1>
        <a:srgbClr val="0B6E4F"/>
      </a:accent1>
      <a:accent2>
        <a:srgbClr val="C9A227"/>
      </a:accent2>
      <a:accent3>
        <a:srgbClr val="B23A48"/>
      </a:accent3>
      <a:accent4>
        <a:srgbClr val="3A6EA5"/>
      </a:accent4>
      <a:accent5>
        <a:srgbClr val="6B7C85"/>
      </a:accent5>
      <a:accent6>
        <a:srgbClr val="7A5BB5"/>
      </a:accent6>
      <a:hlink>
        <a:srgbClr val="3A6EA5"/>
      </a:hlink>
      <a:folHlink>
        <a:srgbClr val="6B7C85"/>
      </a:folHlink>
    </a:clrScheme>
    <a:fontScheme name="Blackjack M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Monte Carlo no Blackjack</dc:title>
  <dc:subject>PptxGenJS Presentation</dc:subject>
  <dc:creator>Lucas — Ibmec São Paulo</dc:creator>
  <cp:lastModifiedBy>Lucas — Ibmec São Paulo</cp:lastModifiedBy>
  <cp:revision>1</cp:revision>
  <dcterms:created xsi:type="dcterms:W3CDTF">2026-10-13T20:21:40Z</dcterms:created>
  <dcterms:modified xsi:type="dcterms:W3CDTF">2026-10-13T20:21:40Z</dcterms:modified>
</cp:coreProperties>
</file>